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869680" y="0"/>
            <a:ext cx="3322015" cy="6858000"/>
          </a:xfrm>
          <a:prstGeom prst="rect">
            <a:avLst/>
          </a:prstGeom>
          <a:solidFill>
            <a:srgbClr val="1D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7498079" cy="267766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1200" b="1">
                <a:solidFill>
                  <a:srgbClr val="70D8E0"/>
                </a:solidFill>
                <a:latin typeface="Aptos"/>
              </a:defRPr>
            </a:pPr>
            <a:r>
              <a:rPr lang="en-IN" dirty="0"/>
              <a:t>COMPUTER NETWORKS</a:t>
            </a:r>
            <a:r>
              <a:rPr dirty="0"/>
              <a:t> FINAL 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417320"/>
            <a:ext cx="7772400" cy="1468094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3000" b="1">
                <a:solidFill>
                  <a:srgbClr val="F8FAFD"/>
                </a:solidFill>
                <a:latin typeface="Aptos"/>
              </a:defRPr>
            </a:pPr>
            <a:br>
              <a:rPr dirty="0"/>
            </a:br>
            <a:r>
              <a:rPr dirty="0"/>
              <a:t>Concurrent Access</a:t>
            </a:r>
            <a:r>
              <a:rPr lang="en-IN" dirty="0"/>
              <a:t> Management in Distributed File Storage System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804672" y="3246120"/>
            <a:ext cx="7223760" cy="64008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1700" b="0">
                <a:solidFill>
                  <a:srgbClr val="B9C7D8"/>
                </a:solidFill>
                <a:latin typeface="Aptos"/>
              </a:defRPr>
            </a:pPr>
            <a:r>
              <a:t>A TCP client-server system with multithreading and synchronized file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4709160"/>
            <a:ext cx="7132320" cy="513987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1400" b="0">
                <a:solidFill>
                  <a:srgbClr val="F8FAFD"/>
                </a:solidFill>
                <a:latin typeface="Aptos"/>
              </a:defRPr>
            </a:pPr>
            <a:r>
              <a:rPr dirty="0"/>
              <a:t>Team: Kamal </a:t>
            </a:r>
            <a:br>
              <a:rPr dirty="0"/>
            </a:br>
            <a:r>
              <a:rPr dirty="0"/>
              <a:t>C++ • POSIX sockets • Threads • File locking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6080760"/>
            <a:ext cx="7132320" cy="22860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1000" b="0">
                <a:solidFill>
                  <a:srgbClr val="B9C7D8"/>
                </a:solidFill>
                <a:latin typeface="Aptos"/>
              </a:defRPr>
            </a:pPr>
            <a:r>
              <a:t>Final review presentation • 19 October 2026</a:t>
            </a:r>
          </a:p>
        </p:txBody>
      </p:sp>
      <p:sp>
        <p:nvSpPr>
          <p:cNvPr id="8" name="Oval 7"/>
          <p:cNvSpPr/>
          <p:nvPr/>
        </p:nvSpPr>
        <p:spPr>
          <a:xfrm>
            <a:off x="9555480" y="1143000"/>
            <a:ext cx="201168" cy="201168"/>
          </a:xfrm>
          <a:prstGeom prst="ellipse">
            <a:avLst/>
          </a:prstGeom>
          <a:solidFill>
            <a:srgbClr val="00B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744200" y="1874519"/>
            <a:ext cx="201168" cy="201168"/>
          </a:xfrm>
          <a:prstGeom prst="ellipse">
            <a:avLst/>
          </a:prstGeom>
          <a:solidFill>
            <a:srgbClr val="00B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875520" y="2834640"/>
            <a:ext cx="201168" cy="201168"/>
          </a:xfrm>
          <a:prstGeom prst="ellipse">
            <a:avLst/>
          </a:prstGeom>
          <a:solidFill>
            <a:srgbClr val="00B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972800" y="3703320"/>
            <a:ext cx="201168" cy="201168"/>
          </a:xfrm>
          <a:prstGeom prst="ellipse">
            <a:avLst/>
          </a:prstGeom>
          <a:solidFill>
            <a:srgbClr val="00B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9601200" y="4663440"/>
            <a:ext cx="201168" cy="201168"/>
          </a:xfrm>
          <a:prstGeom prst="ellipse">
            <a:avLst/>
          </a:prstGeom>
          <a:solidFill>
            <a:srgbClr val="00B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698480" y="5486400"/>
            <a:ext cx="201168" cy="201168"/>
          </a:xfrm>
          <a:prstGeom prst="ellipse">
            <a:avLst/>
          </a:prstGeom>
          <a:solidFill>
            <a:srgbClr val="00B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4" name="Connector 13"/>
          <p:cNvCxnSpPr/>
          <p:nvPr/>
        </p:nvCxnSpPr>
        <p:spPr>
          <a:xfrm>
            <a:off x="9656064" y="1243584"/>
            <a:ext cx="1188720" cy="731520"/>
          </a:xfrm>
          <a:prstGeom prst="line">
            <a:avLst/>
          </a:prstGeom>
          <a:ln w="25400">
            <a:solidFill>
              <a:srgbClr val="70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9976104" y="1975104"/>
            <a:ext cx="868680" cy="960120"/>
          </a:xfrm>
          <a:prstGeom prst="line">
            <a:avLst/>
          </a:prstGeom>
          <a:ln w="25400">
            <a:solidFill>
              <a:srgbClr val="70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976104" y="2935224"/>
            <a:ext cx="1097280" cy="868680"/>
          </a:xfrm>
          <a:prstGeom prst="line">
            <a:avLst/>
          </a:prstGeom>
          <a:ln w="25400">
            <a:solidFill>
              <a:srgbClr val="70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9701784" y="3803904"/>
            <a:ext cx="1371600" cy="960120"/>
          </a:xfrm>
          <a:prstGeom prst="line">
            <a:avLst/>
          </a:prstGeom>
          <a:ln w="25400">
            <a:solidFill>
              <a:srgbClr val="70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701784" y="4764024"/>
            <a:ext cx="1097280" cy="822960"/>
          </a:xfrm>
          <a:prstGeom prst="line">
            <a:avLst/>
          </a:prstGeom>
          <a:ln w="25400">
            <a:solidFill>
              <a:srgbClr val="70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30352" y="6510528"/>
            <a:ext cx="9144000" cy="18288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800" b="1">
                <a:solidFill>
                  <a:srgbClr val="B9C7D8"/>
                </a:solidFill>
                <a:latin typeface="Aptos"/>
              </a:defRPr>
            </a:pPr>
            <a:r>
              <a:t>OPERATING SYSTEMS • FINAL PROJECT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92240"/>
            <a:ext cx="548640" cy="18288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r">
              <a:defRPr sz="900" b="1">
                <a:solidFill>
                  <a:srgbClr val="B9C7D8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56032"/>
            <a:ext cx="10698480" cy="438912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2500" b="1">
                <a:solidFill>
                  <a:srgbClr val="F8FAFD"/>
                </a:solidFill>
                <a:latin typeface="Aptos"/>
              </a:defRPr>
            </a:pPr>
            <a:r>
              <a:t>Project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698480" cy="27432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1100" b="0">
                <a:solidFill>
                  <a:srgbClr val="B9C7D8"/>
                </a:solidFill>
                <a:latin typeface="Aptos"/>
              </a:defRPr>
            </a:pPr>
            <a:r>
              <a:t>Problem, approach and Operating Systems relevance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97280"/>
            <a:ext cx="731520" cy="41148"/>
          </a:xfrm>
          <a:prstGeom prst="rect">
            <a:avLst/>
          </a:prstGeom>
          <a:solidFill>
            <a:srgbClr val="00B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509760" y="310896"/>
            <a:ext cx="2057400" cy="22860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r">
              <a:defRPr sz="900" b="1">
                <a:solidFill>
                  <a:srgbClr val="70D8E0"/>
                </a:solidFill>
                <a:latin typeface="Aptos"/>
              </a:defRPr>
            </a:pPr>
            <a:r>
              <a:t>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9144000" cy="18288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800" b="1">
                <a:solidFill>
                  <a:srgbClr val="B9C7D8"/>
                </a:solidFill>
                <a:latin typeface="Aptos"/>
              </a:defRPr>
            </a:pPr>
            <a:r>
              <a:t>OPERATING SYSTEMS • FINAL PROJECT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548640" cy="18288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r">
              <a:defRPr sz="900" b="1">
                <a:solidFill>
                  <a:srgbClr val="B9C7D8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3520440" cy="1417320"/>
          </a:xfrm>
          <a:prstGeom prst="roundRect">
            <a:avLst/>
          </a:prstGeom>
          <a:solidFill>
            <a:srgbClr val="1D2F4C"/>
          </a:solidFill>
          <a:ln>
            <a:solidFill>
              <a:srgbClr val="354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1527048"/>
            <a:ext cx="50292" cy="1197864"/>
          </a:xfrm>
          <a:prstGeom prst="rect">
            <a:avLst/>
          </a:prstGeom>
          <a:solidFill>
            <a:srgbClr val="00B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2" y="1527048"/>
            <a:ext cx="3227832" cy="32004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1400" b="1">
                <a:solidFill>
                  <a:srgbClr val="F8FAFD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901952"/>
            <a:ext cx="3227832" cy="86868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1200" b="0">
                <a:solidFill>
                  <a:srgbClr val="B9C7D8"/>
                </a:solidFill>
                <a:latin typeface="Aptos"/>
              </a:defRPr>
            </a:pPr>
            <a:r>
              <a:t>Concurrent file operations can cause race conditions, inconsistent data and resource conflicts.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417320"/>
            <a:ext cx="3520440" cy="1417320"/>
          </a:xfrm>
          <a:prstGeom prst="roundRect">
            <a:avLst/>
          </a:prstGeom>
          <a:solidFill>
            <a:srgbClr val="1D2F4C"/>
          </a:solidFill>
          <a:ln>
            <a:solidFill>
              <a:srgbClr val="354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15968" y="1527048"/>
            <a:ext cx="50292" cy="1197864"/>
          </a:xfrm>
          <a:prstGeom prst="rect">
            <a:avLst/>
          </a:prstGeom>
          <a:solidFill>
            <a:srgbClr val="7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80559" y="1527048"/>
            <a:ext cx="3227832" cy="32004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1400" b="1">
                <a:solidFill>
                  <a:srgbClr val="F8FAFD"/>
                </a:solidFill>
                <a:latin typeface="Aptos"/>
              </a:defRPr>
            </a:pPr>
            <a:r>
              <a:t>OUR APPROACH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59" y="1901952"/>
            <a:ext cx="3227832" cy="86868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1200" b="0">
                <a:solidFill>
                  <a:srgbClr val="B9C7D8"/>
                </a:solidFill>
                <a:latin typeface="Aptos"/>
              </a:defRPr>
            </a:pPr>
            <a:r>
              <a:t>A browser gateway communicates with a multithreaded C++ storage server over TCP.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37575" y="1417320"/>
            <a:ext cx="3520440" cy="1417320"/>
          </a:xfrm>
          <a:prstGeom prst="roundRect">
            <a:avLst/>
          </a:prstGeom>
          <a:solidFill>
            <a:srgbClr val="1D2F4C"/>
          </a:solidFill>
          <a:ln>
            <a:solidFill>
              <a:srgbClr val="354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37575" y="1527048"/>
            <a:ext cx="50292" cy="1197864"/>
          </a:xfrm>
          <a:prstGeom prst="rect">
            <a:avLst/>
          </a:prstGeom>
          <a:solidFill>
            <a:srgbClr val="F5B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02167" y="1527048"/>
            <a:ext cx="3227832" cy="32004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1400" b="1">
                <a:solidFill>
                  <a:srgbClr val="F8FAFD"/>
                </a:solidFill>
                <a:latin typeface="Aptos"/>
              </a:defRPr>
            </a:pPr>
            <a:r>
              <a:t>OS CONCEPTS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2167" y="1901952"/>
            <a:ext cx="3227832" cy="86868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1200" b="0">
                <a:solidFill>
                  <a:srgbClr val="B9C7D8"/>
                </a:solidFill>
                <a:latin typeface="Aptos"/>
              </a:defRPr>
            </a:pPr>
            <a:r>
              <a:t>Threads, synchronization, file I/O, sockets and resource management.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227266"/>
            <a:ext cx="10058400" cy="36576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1900" b="1">
                <a:solidFill>
                  <a:srgbClr val="F8FAFD"/>
                </a:solidFill>
                <a:latin typeface="Aptos"/>
              </a:defRPr>
            </a:pPr>
            <a:r>
              <a:t>Core capabilities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703320"/>
            <a:ext cx="10515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F8FAFD"/>
                </a:solidFill>
                <a:latin typeface="Aptos"/>
              </a:defRPr>
            </a:pPr>
            <a:r>
              <a:t>•  Upload, download, list and delete files.</a:t>
            </a:r>
          </a:p>
          <a:p>
            <a:pPr>
              <a:spcAft>
                <a:spcPts val="900"/>
              </a:spcAft>
              <a:defRPr sz="1500">
                <a:solidFill>
                  <a:srgbClr val="F8FAFD"/>
                </a:solidFill>
                <a:latin typeface="Aptos"/>
              </a:defRPr>
            </a:pPr>
            <a:r>
              <a:t>•  Handle multiple client connections concurrently.</a:t>
            </a:r>
          </a:p>
          <a:p>
            <a:pPr>
              <a:spcAft>
                <a:spcPts val="900"/>
              </a:spcAft>
              <a:defRPr sz="1500">
                <a:solidFill>
                  <a:srgbClr val="F8FAFD"/>
                </a:solidFill>
                <a:latin typeface="Aptos"/>
              </a:defRPr>
            </a:pPr>
            <a:r>
              <a:t>•  Coordinate conflicting operations on the same file using locks.</a:t>
            </a:r>
          </a:p>
          <a:p>
            <a:pPr>
              <a:spcAft>
                <a:spcPts val="900"/>
              </a:spcAft>
              <a:defRPr sz="1500">
                <a:solidFill>
                  <a:srgbClr val="F8FAFD"/>
                </a:solidFill>
                <a:latin typeface="Aptos"/>
              </a:defRPr>
            </a:pPr>
            <a:r>
              <a:t>•  Use server-side validation, logs and tests to check correctness.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56032"/>
            <a:ext cx="10698480" cy="438912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2500" b="1">
                <a:solidFill>
                  <a:srgbClr val="F8FAFD"/>
                </a:solidFill>
                <a:latin typeface="Aptos"/>
              </a:defRPr>
            </a:pPr>
            <a:r>
              <a:t>Problem statement and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698480" cy="27432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1100" b="0">
                <a:solidFill>
                  <a:srgbClr val="B9C7D8"/>
                </a:solidFill>
                <a:latin typeface="Aptos"/>
              </a:defRPr>
            </a:pPr>
            <a:r>
              <a:t>Why concurrent access needs careful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97280"/>
            <a:ext cx="731520" cy="41148"/>
          </a:xfrm>
          <a:prstGeom prst="rect">
            <a:avLst/>
          </a:prstGeom>
          <a:solidFill>
            <a:srgbClr val="00B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509760" y="310896"/>
            <a:ext cx="2057400" cy="22860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r">
              <a:defRPr sz="900" b="1">
                <a:solidFill>
                  <a:srgbClr val="70D8E0"/>
                </a:solidFill>
                <a:latin typeface="Aptos"/>
              </a:defRPr>
            </a:pPr>
            <a:r>
              <a:t>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9144000" cy="18288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800" b="1">
                <a:solidFill>
                  <a:srgbClr val="B9C7D8"/>
                </a:solidFill>
                <a:latin typeface="Aptos"/>
              </a:defRPr>
            </a:pPr>
            <a:r>
              <a:t>OPERATING SYSTEMS • FINAL PROJECT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548640" cy="18288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r">
              <a:defRPr sz="900" b="1">
                <a:solidFill>
                  <a:srgbClr val="B9C7D8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F8FAFD"/>
                </a:solidFill>
                <a:latin typeface="Aptos"/>
              </a:defRPr>
            </a:pPr>
            <a:r>
              <a:t>•  Multiple clients may request operations on shared files at nearly the same time.</a:t>
            </a:r>
          </a:p>
          <a:p>
            <a:pPr>
              <a:spcAft>
                <a:spcPts val="900"/>
              </a:spcAft>
              <a:defRPr sz="1600">
                <a:solidFill>
                  <a:srgbClr val="F8FAFD"/>
                </a:solidFill>
                <a:latin typeface="Aptos"/>
              </a:defRPr>
            </a:pPr>
            <a:r>
              <a:t>•  Uncoordinated writes, reads and deletion can lead to inconsistent results.</a:t>
            </a:r>
          </a:p>
          <a:p>
            <a:pPr>
              <a:spcAft>
                <a:spcPts val="900"/>
              </a:spcAft>
              <a:defRPr sz="1600">
                <a:solidFill>
                  <a:srgbClr val="F8FAFD"/>
                </a:solidFill>
                <a:latin typeface="Aptos"/>
              </a:defRPr>
            </a:pPr>
            <a:r>
              <a:t>•  A slow client should not prevent the server from accepting other clients.</a:t>
            </a:r>
          </a:p>
          <a:p>
            <a:pPr>
              <a:spcAft>
                <a:spcPts val="900"/>
              </a:spcAft>
              <a:defRPr sz="1600">
                <a:solidFill>
                  <a:srgbClr val="F8FAFD"/>
                </a:solidFill>
                <a:latin typeface="Aptos"/>
              </a:defRPr>
            </a:pPr>
            <a:r>
              <a:t>•  The project explores concurrency for responsiveness and synchronization for safe shared-file access.</a:t>
            </a:r>
          </a:p>
          <a:p>
            <a:pPr>
              <a:spcAft>
                <a:spcPts val="900"/>
              </a:spcAft>
              <a:defRPr sz="1600">
                <a:solidFill>
                  <a:srgbClr val="F8FAFD"/>
                </a:solidFill>
                <a:latin typeface="Aptos"/>
              </a:defRPr>
            </a:pPr>
            <a:r>
              <a:t>•  Goal: practical file operations, clear protocol responses, validation and error handling.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56032"/>
            <a:ext cx="10698480" cy="438912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2500" b="1">
                <a:solidFill>
                  <a:srgbClr val="F8FAFD"/>
                </a:solidFill>
                <a:latin typeface="Aptos"/>
              </a:defRPr>
            </a:pPr>
            <a:r>
              <a:t>Objectives and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698480" cy="27432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1100" b="0">
                <a:solidFill>
                  <a:srgbClr val="B9C7D8"/>
                </a:solidFill>
                <a:latin typeface="Aptos"/>
              </a:defRPr>
            </a:pPr>
            <a:r>
              <a:t>Objectives define targets; scope defines what is included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97280"/>
            <a:ext cx="731520" cy="41148"/>
          </a:xfrm>
          <a:prstGeom prst="rect">
            <a:avLst/>
          </a:prstGeom>
          <a:solidFill>
            <a:srgbClr val="00B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509760" y="310896"/>
            <a:ext cx="2057400" cy="22860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r">
              <a:defRPr sz="900" b="1">
                <a:solidFill>
                  <a:srgbClr val="70D8E0"/>
                </a:solidFill>
                <a:latin typeface="Aptos"/>
              </a:defRPr>
            </a:pPr>
            <a:r>
              <a:t>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9144000" cy="18288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800" b="1">
                <a:solidFill>
                  <a:srgbClr val="B9C7D8"/>
                </a:solidFill>
                <a:latin typeface="Aptos"/>
              </a:defRPr>
            </a:pPr>
            <a:r>
              <a:t>OPERATING SYSTEMS • FINAL PROJECT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548640" cy="18288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r">
              <a:defRPr sz="900" b="1">
                <a:solidFill>
                  <a:srgbClr val="B9C7D8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5394960" cy="4480560"/>
          </a:xfrm>
          <a:prstGeom prst="roundRect">
            <a:avLst/>
          </a:prstGeom>
          <a:solidFill>
            <a:srgbClr val="1D2F4C"/>
          </a:solidFill>
          <a:ln>
            <a:solidFill>
              <a:srgbClr val="354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527048"/>
            <a:ext cx="50292" cy="4261104"/>
          </a:xfrm>
          <a:prstGeom prst="rect">
            <a:avLst/>
          </a:prstGeom>
          <a:solidFill>
            <a:srgbClr val="00B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1" y="1527048"/>
            <a:ext cx="5102352" cy="32004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1400" b="1">
                <a:solidFill>
                  <a:srgbClr val="F8FAFD"/>
                </a:solidFill>
                <a:latin typeface="Aptos"/>
              </a:defRPr>
            </a:pPr>
            <a:r>
              <a:t>OBJECTIVES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901952"/>
            <a:ext cx="5102352" cy="393192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1200" b="0">
                <a:solidFill>
                  <a:srgbClr val="B9C7D8"/>
                </a:solidFill>
                <a:latin typeface="Aptos"/>
              </a:defRPr>
            </a:pPr>
            <a:r>
              <a:t>• Build TCP client-server communication</a:t>
            </a:r>
            <a:br/>
            <a:br/>
            <a:r>
              <a:t>• Handle multiple clients concurrently</a:t>
            </a:r>
            <a:br/>
            <a:br/>
            <a:r>
              <a:t>• Support upload/download/list/delete</a:t>
            </a:r>
            <a:br/>
            <a:br/>
            <a:r>
              <a:t>• Coordinate conflicting file access</a:t>
            </a:r>
            <a:br/>
            <a:br/>
            <a:r>
              <a:t>• Validate requests and handle errors</a:t>
            </a:r>
            <a:br/>
            <a:br/>
            <a:r>
              <a:t>• Evaluate concurrency with repeatable tests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17320"/>
            <a:ext cx="5303520" cy="4480560"/>
          </a:xfrm>
          <a:prstGeom prst="roundRect">
            <a:avLst/>
          </a:prstGeom>
          <a:solidFill>
            <a:srgbClr val="1D2F4C"/>
          </a:solidFill>
          <a:ln>
            <a:solidFill>
              <a:srgbClr val="354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1527048"/>
            <a:ext cx="50292" cy="4261104"/>
          </a:xfrm>
          <a:prstGeom prst="rect">
            <a:avLst/>
          </a:prstGeom>
          <a:solidFill>
            <a:srgbClr val="F5B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82512" y="1527048"/>
            <a:ext cx="5010912" cy="32004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1400" b="1">
                <a:solidFill>
                  <a:srgbClr val="F8FAFD"/>
                </a:solidFill>
                <a:latin typeface="Aptos"/>
              </a:defRPr>
            </a:pPr>
            <a:r>
              <a:t>SCOPE &amp; FUTURE 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1901952"/>
            <a:ext cx="5010912" cy="393192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1200" b="0">
                <a:solidFill>
                  <a:srgbClr val="B9C7D8"/>
                </a:solidFill>
                <a:latin typeface="Aptos"/>
              </a:defRPr>
            </a:pPr>
            <a:r>
              <a:t>IN SCOPE</a:t>
            </a:r>
            <a:br/>
            <a:r>
              <a:t>• One storage server</a:t>
            </a:r>
            <a:br/>
            <a:r>
              <a:t>• Browser via C++ gateway</a:t>
            </a:r>
            <a:br/>
            <a:r>
              <a:t>• Terminal client and file operations</a:t>
            </a:r>
            <a:br/>
            <a:r>
              <a:t>• Threading, locks and tests</a:t>
            </a:r>
            <a:br/>
            <a:br/>
            <a:r>
              <a:t>FUTURE WORK</a:t>
            </a:r>
            <a:br/>
            <a:r>
              <a:t>• Multiple storage nodes and replication</a:t>
            </a:r>
            <a:br/>
            <a:r>
              <a:t>• Authentication and encryption</a:t>
            </a:r>
            <a:br/>
            <a:r>
              <a:t>• Load balancing and version history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56032"/>
            <a:ext cx="10698480" cy="438912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2500" b="1">
                <a:solidFill>
                  <a:srgbClr val="F8FAFD"/>
                </a:solidFill>
                <a:latin typeface="Aptos"/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698480" cy="27432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1100" b="0">
                <a:solidFill>
                  <a:srgbClr val="B9C7D8"/>
                </a:solidFill>
                <a:latin typeface="Aptos"/>
              </a:defRPr>
            </a:pPr>
            <a:r>
              <a:t>Three layers separate interaction, protocol translation and storage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97280"/>
            <a:ext cx="731520" cy="41148"/>
          </a:xfrm>
          <a:prstGeom prst="rect">
            <a:avLst/>
          </a:prstGeom>
          <a:solidFill>
            <a:srgbClr val="00B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509760" y="310896"/>
            <a:ext cx="2057400" cy="22860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r">
              <a:defRPr sz="900" b="1">
                <a:solidFill>
                  <a:srgbClr val="70D8E0"/>
                </a:solidFill>
                <a:latin typeface="Aptos"/>
              </a:defRPr>
            </a:pPr>
            <a:r>
              <a:t>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9144000" cy="18288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800" b="1">
                <a:solidFill>
                  <a:srgbClr val="B9C7D8"/>
                </a:solidFill>
                <a:latin typeface="Aptos"/>
              </a:defRPr>
            </a:pPr>
            <a:r>
              <a:t>OPERATING SYSTEMS • FINAL PROJECT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548640" cy="18288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r">
              <a:defRPr sz="900" b="1">
                <a:solidFill>
                  <a:srgbClr val="B9C7D8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2926080" cy="1508760"/>
          </a:xfrm>
          <a:prstGeom prst="roundRect">
            <a:avLst/>
          </a:prstGeom>
          <a:solidFill>
            <a:srgbClr val="1D2F4C"/>
          </a:solidFill>
          <a:ln>
            <a:solidFill>
              <a:srgbClr val="354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938528"/>
            <a:ext cx="50292" cy="1289304"/>
          </a:xfrm>
          <a:prstGeom prst="rect">
            <a:avLst/>
          </a:prstGeom>
          <a:solidFill>
            <a:srgbClr val="00B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1" y="1938528"/>
            <a:ext cx="2633472" cy="32004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1400" b="1">
                <a:solidFill>
                  <a:srgbClr val="F8FAFD"/>
                </a:solidFill>
                <a:latin typeface="Aptos"/>
              </a:defRPr>
            </a:pPr>
            <a:r>
              <a:t>1  BROWSER 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2313432"/>
            <a:ext cx="2633472" cy="960119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1200" b="0">
                <a:solidFill>
                  <a:srgbClr val="B9C7D8"/>
                </a:solidFill>
                <a:latin typeface="Aptos"/>
              </a:defRPr>
            </a:pPr>
            <a:r>
              <a:t>HTTP requests: upload, list, download and delete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4448" y="2240280"/>
            <a:ext cx="365760" cy="36576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ctr">
              <a:defRPr sz="2500" b="1">
                <a:solidFill>
                  <a:srgbClr val="70D8E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77639" y="1828800"/>
            <a:ext cx="2926080" cy="1508760"/>
          </a:xfrm>
          <a:prstGeom prst="roundRect">
            <a:avLst/>
          </a:prstGeom>
          <a:solidFill>
            <a:srgbClr val="1D2F4C"/>
          </a:solidFill>
          <a:ln>
            <a:solidFill>
              <a:srgbClr val="354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977639" y="1938528"/>
            <a:ext cx="50292" cy="1289304"/>
          </a:xfrm>
          <a:prstGeom prst="rect">
            <a:avLst/>
          </a:prstGeom>
          <a:solidFill>
            <a:srgbClr val="7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42231" y="1938528"/>
            <a:ext cx="2633472" cy="32004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1400" b="1">
                <a:solidFill>
                  <a:srgbClr val="F8FAFD"/>
                </a:solidFill>
                <a:latin typeface="Aptos"/>
              </a:defRPr>
            </a:pPr>
            <a:r>
              <a:t>2  C++ GATEWAY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42231" y="2313432"/>
            <a:ext cx="2633472" cy="960119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1200" b="0">
                <a:solidFill>
                  <a:srgbClr val="B9C7D8"/>
                </a:solidFill>
                <a:latin typeface="Aptos"/>
              </a:defRPr>
            </a:pPr>
            <a:r>
              <a:t>Receives HTTP and translates actions into storage commands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31152" y="2240280"/>
            <a:ext cx="365760" cy="36576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ctr">
              <a:defRPr sz="2500" b="1">
                <a:solidFill>
                  <a:srgbClr val="70D8E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0" y="1828800"/>
            <a:ext cx="4160520" cy="1508760"/>
          </a:xfrm>
          <a:prstGeom prst="roundRect">
            <a:avLst/>
          </a:prstGeom>
          <a:solidFill>
            <a:srgbClr val="1D2F4C"/>
          </a:solidFill>
          <a:ln>
            <a:solidFill>
              <a:srgbClr val="354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15200" y="1938528"/>
            <a:ext cx="50292" cy="1289304"/>
          </a:xfrm>
          <a:prstGeom prst="rect">
            <a:avLst/>
          </a:prstGeom>
          <a:solidFill>
            <a:srgbClr val="F5B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79792" y="1938528"/>
            <a:ext cx="3867911" cy="32004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1400" b="1">
                <a:solidFill>
                  <a:srgbClr val="F8FAFD"/>
                </a:solidFill>
                <a:latin typeface="Aptos"/>
              </a:defRPr>
            </a:pPr>
            <a:r>
              <a:t>3  STORAGE SERVER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79792" y="2313432"/>
            <a:ext cx="3867911" cy="960119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1200" b="0">
                <a:solidFill>
                  <a:srgbClr val="B9C7D8"/>
                </a:solidFill>
                <a:latin typeface="Aptos"/>
              </a:defRPr>
            </a:pPr>
            <a:r>
              <a:t>TCP listener, client-handler threads, file manager and locks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43800" y="4069080"/>
            <a:ext cx="1783080" cy="1051560"/>
          </a:xfrm>
          <a:prstGeom prst="roundRect">
            <a:avLst/>
          </a:prstGeom>
          <a:solidFill>
            <a:srgbClr val="1D2F4C"/>
          </a:solidFill>
          <a:ln>
            <a:solidFill>
              <a:srgbClr val="354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543800" y="4178808"/>
            <a:ext cx="50292" cy="832103"/>
          </a:xfrm>
          <a:prstGeom prst="rect">
            <a:avLst/>
          </a:prstGeom>
          <a:solidFill>
            <a:srgbClr val="00B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08392" y="4178808"/>
            <a:ext cx="1490472" cy="32004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1400" b="1">
                <a:solidFill>
                  <a:srgbClr val="F8FAFD"/>
                </a:solidFill>
                <a:latin typeface="Aptos"/>
              </a:defRPr>
            </a:pPr>
            <a:r>
              <a:t>STORAGE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08392" y="4553712"/>
            <a:ext cx="1490472" cy="502919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1200" b="0">
                <a:solidFill>
                  <a:srgbClr val="B9C7D8"/>
                </a:solidFill>
                <a:latin typeface="Aptos"/>
              </a:defRPr>
            </a:pPr>
            <a:r>
              <a:t>Files on disk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55480" y="4069080"/>
            <a:ext cx="1874519" cy="1051560"/>
          </a:xfrm>
          <a:prstGeom prst="roundRect">
            <a:avLst/>
          </a:prstGeom>
          <a:solidFill>
            <a:srgbClr val="1D2F4C"/>
          </a:solidFill>
          <a:ln>
            <a:solidFill>
              <a:srgbClr val="354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555480" y="4178808"/>
            <a:ext cx="50292" cy="832103"/>
          </a:xfrm>
          <a:prstGeom prst="rect">
            <a:avLst/>
          </a:prstGeom>
          <a:solidFill>
            <a:srgbClr val="7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720072" y="4178808"/>
            <a:ext cx="1581911" cy="32004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1400" b="1">
                <a:solidFill>
                  <a:srgbClr val="F8FAFD"/>
                </a:solidFill>
                <a:latin typeface="Aptos"/>
              </a:defRPr>
            </a:pPr>
            <a:r>
              <a:t>LOGS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20072" y="4553712"/>
            <a:ext cx="1581911" cy="502919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1200" b="0">
                <a:solidFill>
                  <a:srgbClr val="B9C7D8"/>
                </a:solidFill>
                <a:latin typeface="Aptos"/>
              </a:defRPr>
            </a:pPr>
            <a:r>
              <a:t>Operations/errors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4160520"/>
            <a:ext cx="6126480" cy="105156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1500" b="0">
                <a:solidFill>
                  <a:srgbClr val="F8FAFD"/>
                </a:solidFill>
                <a:latin typeface="Aptos"/>
              </a:defRPr>
            </a:pPr>
            <a:r>
              <a:t>The browser uses HTTP; the gateway bridges HTTP to the custom TCP protocol. The storage server owns file validation and file operations.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56032"/>
            <a:ext cx="10698480" cy="438912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2500" b="1">
                <a:solidFill>
                  <a:srgbClr val="F8FAFD"/>
                </a:solidFill>
                <a:latin typeface="Aptos"/>
              </a:defRPr>
            </a:pPr>
            <a:r>
              <a:t>Request lifecycle: from browser to disk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698480" cy="27432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1100" b="0">
                <a:solidFill>
                  <a:srgbClr val="B9C7D8"/>
                </a:solidFill>
                <a:latin typeface="Aptos"/>
              </a:defRPr>
            </a:pPr>
            <a:r>
              <a:t>Illustrative upload flow; confirm exact messages in source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97280"/>
            <a:ext cx="731520" cy="41148"/>
          </a:xfrm>
          <a:prstGeom prst="rect">
            <a:avLst/>
          </a:prstGeom>
          <a:solidFill>
            <a:srgbClr val="00B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509760" y="310896"/>
            <a:ext cx="2057400" cy="22860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r">
              <a:defRPr sz="900" b="1">
                <a:solidFill>
                  <a:srgbClr val="70D8E0"/>
                </a:solidFill>
                <a:latin typeface="Aptos"/>
              </a:defRPr>
            </a:pPr>
            <a:r>
              <a:t>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9144000" cy="18288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800" b="1">
                <a:solidFill>
                  <a:srgbClr val="B9C7D8"/>
                </a:solidFill>
                <a:latin typeface="Aptos"/>
              </a:defRPr>
            </a:pPr>
            <a:r>
              <a:t>OPERATING SYSTEMS • FINAL PROJECT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548640" cy="18288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r">
              <a:defRPr sz="900" b="1">
                <a:solidFill>
                  <a:srgbClr val="B9C7D8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F8FAFD"/>
                </a:solidFill>
                <a:latin typeface="Aptos"/>
              </a:defRPr>
            </a:pPr>
            <a:r>
              <a:t>•  1. Browser submits an upload request to the C++ gateway.</a:t>
            </a:r>
          </a:p>
          <a:p>
            <a:pPr>
              <a:spcAft>
                <a:spcPts val="900"/>
              </a:spcAft>
              <a:defRPr sz="1500">
                <a:solidFill>
                  <a:srgbClr val="F8FAFD"/>
                </a:solidFill>
                <a:latin typeface="Aptos"/>
              </a:defRPr>
            </a:pPr>
            <a:r>
              <a:t>•  2. Gateway opens a TCP connection and sends a framed command with filename and size.</a:t>
            </a:r>
          </a:p>
          <a:p>
            <a:pPr>
              <a:spcAft>
                <a:spcPts val="900"/>
              </a:spcAft>
              <a:defRPr sz="1500">
                <a:solidFill>
                  <a:srgbClr val="F8FAFD"/>
                </a:solidFill>
                <a:latin typeface="Aptos"/>
              </a:defRPr>
            </a:pPr>
            <a:r>
              <a:t>•  3. Server validates command, filename and permitted file size.</a:t>
            </a:r>
          </a:p>
          <a:p>
            <a:pPr>
              <a:spcAft>
                <a:spcPts val="900"/>
              </a:spcAft>
              <a:defRPr sz="1500">
                <a:solidFill>
                  <a:srgbClr val="F8FAFD"/>
                </a:solidFill>
                <a:latin typeface="Aptos"/>
              </a:defRPr>
            </a:pPr>
            <a:r>
              <a:t>•  4. Server receives expected bytes and writes them to a temporary file.</a:t>
            </a:r>
          </a:p>
          <a:p>
            <a:pPr>
              <a:spcAft>
                <a:spcPts val="900"/>
              </a:spcAft>
              <a:defRPr sz="1500">
                <a:solidFill>
                  <a:srgbClr val="F8FAFD"/>
                </a:solidFill>
                <a:latin typeface="Aptos"/>
              </a:defRPr>
            </a:pPr>
            <a:r>
              <a:t>•  5. Server takes the destination's exclusive lock and commits the completed file.</a:t>
            </a:r>
          </a:p>
          <a:p>
            <a:pPr>
              <a:spcAft>
                <a:spcPts val="900"/>
              </a:spcAft>
              <a:defRPr sz="1500">
                <a:solidFill>
                  <a:srgbClr val="F8FAFD"/>
                </a:solidFill>
                <a:latin typeface="Aptos"/>
              </a:defRPr>
            </a:pPr>
            <a:r>
              <a:t>•  6. Server returns a status; gateway responds to browser and logs can record activity.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56032"/>
            <a:ext cx="10698480" cy="438912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2500" b="1">
                <a:solidFill>
                  <a:srgbClr val="F8FAFD"/>
                </a:solidFill>
                <a:latin typeface="Aptos"/>
              </a:defRPr>
            </a:pPr>
            <a:r>
              <a:t>Concurrency model: independent client handlers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698480" cy="27432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1100" b="0">
                <a:solidFill>
                  <a:srgbClr val="B9C7D8"/>
                </a:solidFill>
                <a:latin typeface="Aptos"/>
              </a:defRPr>
            </a:pPr>
            <a:r>
              <a:t>Concurrency improves responsiveness; the OS schedules runnable threads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97280"/>
            <a:ext cx="731520" cy="41148"/>
          </a:xfrm>
          <a:prstGeom prst="rect">
            <a:avLst/>
          </a:prstGeom>
          <a:solidFill>
            <a:srgbClr val="00B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509760" y="310896"/>
            <a:ext cx="2057400" cy="22860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r">
              <a:defRPr sz="900" b="1">
                <a:solidFill>
                  <a:srgbClr val="70D8E0"/>
                </a:solidFill>
                <a:latin typeface="Aptos"/>
              </a:defRPr>
            </a:pPr>
            <a:r>
              <a:t>CONCURRENCY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9144000" cy="18288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800" b="1">
                <a:solidFill>
                  <a:srgbClr val="B9C7D8"/>
                </a:solidFill>
                <a:latin typeface="Aptos"/>
              </a:defRPr>
            </a:pPr>
            <a:r>
              <a:t>OPERATING SYSTEMS • FINAL PROJECT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548640" cy="18288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r">
              <a:defRPr sz="900" b="1">
                <a:solidFill>
                  <a:srgbClr val="B9C7D8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3429000" cy="1417320"/>
          </a:xfrm>
          <a:prstGeom prst="roundRect">
            <a:avLst/>
          </a:prstGeom>
          <a:solidFill>
            <a:srgbClr val="1D2F4C"/>
          </a:solidFill>
          <a:ln>
            <a:solidFill>
              <a:srgbClr val="354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572768"/>
            <a:ext cx="50292" cy="1197864"/>
          </a:xfrm>
          <a:prstGeom prst="rect">
            <a:avLst/>
          </a:prstGeom>
          <a:solidFill>
            <a:srgbClr val="00B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1" y="1572768"/>
            <a:ext cx="3136392" cy="32004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1400" b="1">
                <a:solidFill>
                  <a:srgbClr val="F8FAFD"/>
                </a:solidFill>
                <a:latin typeface="Aptos"/>
              </a:defRPr>
            </a:pPr>
            <a:r>
              <a:t>MAIN SERVER THREAD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947672"/>
            <a:ext cx="3136392" cy="86868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1200" b="0">
                <a:solidFill>
                  <a:srgbClr val="B9C7D8"/>
                </a:solidFill>
                <a:latin typeface="Aptos"/>
              </a:defRPr>
            </a:pPr>
            <a:r>
              <a:t>Listens on the server socket and accepts connections.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96512" y="1874519"/>
            <a:ext cx="365760" cy="36576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ctr">
              <a:defRPr sz="2500" b="1">
                <a:solidFill>
                  <a:srgbClr val="70D8E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80" y="1463040"/>
            <a:ext cx="3429000" cy="1417320"/>
          </a:xfrm>
          <a:prstGeom prst="roundRect">
            <a:avLst/>
          </a:prstGeom>
          <a:solidFill>
            <a:srgbClr val="1D2F4C"/>
          </a:solidFill>
          <a:ln>
            <a:solidFill>
              <a:srgbClr val="354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26280" y="1572768"/>
            <a:ext cx="50292" cy="1197864"/>
          </a:xfrm>
          <a:prstGeom prst="rect">
            <a:avLst/>
          </a:prstGeom>
          <a:solidFill>
            <a:srgbClr val="7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90872" y="1572768"/>
            <a:ext cx="3136392" cy="32004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1400" b="1">
                <a:solidFill>
                  <a:srgbClr val="F8FAFD"/>
                </a:solidFill>
                <a:latin typeface="Aptos"/>
              </a:defRPr>
            </a:pPr>
            <a:r>
              <a:t>CLIENT HANDLERS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90872" y="1947672"/>
            <a:ext cx="3136392" cy="86868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1200" b="0">
                <a:solidFill>
                  <a:srgbClr val="B9C7D8"/>
                </a:solidFill>
                <a:latin typeface="Aptos"/>
              </a:defRPr>
            </a:pPr>
            <a:r>
              <a:t>Each accepted client is processed independently, subject to resource limits.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1874519"/>
            <a:ext cx="365760" cy="36576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ctr">
              <a:defRPr sz="2500" b="1">
                <a:solidFill>
                  <a:srgbClr val="70D8E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0" y="1463040"/>
            <a:ext cx="3063240" cy="1417320"/>
          </a:xfrm>
          <a:prstGeom prst="roundRect">
            <a:avLst/>
          </a:prstGeom>
          <a:solidFill>
            <a:srgbClr val="1D2F4C"/>
          </a:solidFill>
          <a:ln>
            <a:solidFill>
              <a:srgbClr val="354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412480" y="1572768"/>
            <a:ext cx="50292" cy="1197864"/>
          </a:xfrm>
          <a:prstGeom prst="rect">
            <a:avLst/>
          </a:prstGeom>
          <a:solidFill>
            <a:srgbClr val="F5B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77072" y="1572768"/>
            <a:ext cx="2770632" cy="32004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1400" b="1">
                <a:solidFill>
                  <a:srgbClr val="F8FAFD"/>
                </a:solidFill>
                <a:latin typeface="Aptos"/>
              </a:defRPr>
            </a:pPr>
            <a:r>
              <a:t>FILE OPERATIONS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77072" y="1947672"/>
            <a:ext cx="2770632" cy="86868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1200" b="0">
                <a:solidFill>
                  <a:srgbClr val="B9C7D8"/>
                </a:solidFill>
                <a:latin typeface="Aptos"/>
              </a:defRPr>
            </a:pPr>
            <a:r>
              <a:t>Validated list/read/write/delete logic.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429000"/>
            <a:ext cx="106070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F8FAFD"/>
                </a:solidFill>
                <a:latin typeface="Aptos"/>
              </a:defRPr>
            </a:pPr>
            <a:r>
              <a:t>•  A slow client need not block the accept loop.</a:t>
            </a:r>
          </a:p>
          <a:p>
            <a:pPr>
              <a:spcAft>
                <a:spcPts val="900"/>
              </a:spcAft>
              <a:defRPr sz="1500">
                <a:solidFill>
                  <a:srgbClr val="F8FAFD"/>
                </a:solidFill>
                <a:latin typeface="Aptos"/>
              </a:defRPr>
            </a:pPr>
            <a:r>
              <a:t>•  Different files may be processed concurrently when no shared resource conflicts.</a:t>
            </a:r>
          </a:p>
          <a:p>
            <a:pPr>
              <a:spcAft>
                <a:spcPts val="900"/>
              </a:spcAft>
              <a:defRPr sz="1500">
                <a:solidFill>
                  <a:srgbClr val="F8FAFD"/>
                </a:solidFill>
                <a:latin typeface="Aptos"/>
              </a:defRPr>
            </a:pPr>
            <a:r>
              <a:t>•  Threads share process state, so shared structures and file operations need synchronization.</a:t>
            </a:r>
          </a:p>
          <a:p>
            <a:pPr>
              <a:spcAft>
                <a:spcPts val="900"/>
              </a:spcAft>
              <a:defRPr sz="1500">
                <a:solidFill>
                  <a:srgbClr val="F8FAFD"/>
                </a:solidFill>
                <a:latin typeface="Aptos"/>
              </a:defRPr>
            </a:pPr>
            <a:r>
              <a:t>•  Thread cleanup and connection limits matter for a robust server.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56032"/>
            <a:ext cx="10698480" cy="438912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2500" b="1">
                <a:solidFill>
                  <a:srgbClr val="F8FAFD"/>
                </a:solidFill>
                <a:latin typeface="Aptos"/>
              </a:defRPr>
            </a:pPr>
            <a:r>
              <a:t>Synchronization: per-file shared/exclusive locking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698480" cy="27432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1100" b="0">
                <a:solidFill>
                  <a:srgbClr val="B9C7D8"/>
                </a:solidFill>
                <a:latin typeface="Aptos"/>
              </a:defRPr>
            </a:pPr>
            <a:r>
              <a:t>Use established C++ primitives, not an invented algorithm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97280"/>
            <a:ext cx="731520" cy="41148"/>
          </a:xfrm>
          <a:prstGeom prst="rect">
            <a:avLst/>
          </a:prstGeom>
          <a:solidFill>
            <a:srgbClr val="00B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509760" y="310896"/>
            <a:ext cx="2057400" cy="22860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r">
              <a:defRPr sz="900" b="1">
                <a:solidFill>
                  <a:srgbClr val="70D8E0"/>
                </a:solidFill>
                <a:latin typeface="Aptos"/>
              </a:defRPr>
            </a:pPr>
            <a:r>
              <a:t>OS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9144000" cy="18288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800" b="1">
                <a:solidFill>
                  <a:srgbClr val="B9C7D8"/>
                </a:solidFill>
                <a:latin typeface="Aptos"/>
              </a:defRPr>
            </a:pPr>
            <a:r>
              <a:t>OPERATING SYSTEMS • FINAL PROJECT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548640" cy="18288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r">
              <a:defRPr sz="900" b="1">
                <a:solidFill>
                  <a:srgbClr val="B9C7D8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3520440" cy="1600200"/>
          </a:xfrm>
          <a:prstGeom prst="roundRect">
            <a:avLst/>
          </a:prstGeom>
          <a:solidFill>
            <a:srgbClr val="1D2F4C"/>
          </a:solidFill>
          <a:ln>
            <a:solidFill>
              <a:srgbClr val="354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1527048"/>
            <a:ext cx="50292" cy="1380744"/>
          </a:xfrm>
          <a:prstGeom prst="rect">
            <a:avLst/>
          </a:prstGeom>
          <a:solidFill>
            <a:srgbClr val="00B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2" y="1527048"/>
            <a:ext cx="3227832" cy="32004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1400" b="1">
                <a:solidFill>
                  <a:srgbClr val="F8FAFD"/>
                </a:solidFill>
                <a:latin typeface="Aptos"/>
              </a:defRPr>
            </a:pPr>
            <a:r>
              <a:t>READ: SHARED LOCK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901952"/>
            <a:ext cx="3227832" cy="105156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1200" b="0">
                <a:solidFill>
                  <a:srgbClr val="B9C7D8"/>
                </a:solidFill>
                <a:latin typeface="Aptos"/>
              </a:defRPr>
            </a:pPr>
            <a:r>
              <a:t>Multiple readers may access a file together when no writer holds the exclusive lock.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417320"/>
            <a:ext cx="3520440" cy="1600200"/>
          </a:xfrm>
          <a:prstGeom prst="roundRect">
            <a:avLst/>
          </a:prstGeom>
          <a:solidFill>
            <a:srgbClr val="1D2F4C"/>
          </a:solidFill>
          <a:ln>
            <a:solidFill>
              <a:srgbClr val="354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15968" y="1527048"/>
            <a:ext cx="50292" cy="1380744"/>
          </a:xfrm>
          <a:prstGeom prst="rect">
            <a:avLst/>
          </a:prstGeom>
          <a:solidFill>
            <a:srgbClr val="F5B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80559" y="1527048"/>
            <a:ext cx="3227832" cy="32004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1400" b="1">
                <a:solidFill>
                  <a:srgbClr val="F8FAFD"/>
                </a:solidFill>
                <a:latin typeface="Aptos"/>
              </a:defRPr>
            </a:pPr>
            <a:r>
              <a:t>UPLOAD COMMIT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59" y="1901952"/>
            <a:ext cx="3227832" cy="105156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1200" b="0">
                <a:solidFill>
                  <a:srgbClr val="B9C7D8"/>
                </a:solidFill>
                <a:latin typeface="Aptos"/>
              </a:defRPr>
            </a:pPr>
            <a:r>
              <a:t>Exclusive access coordinates replacing the destination file.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37575" y="1417320"/>
            <a:ext cx="3520440" cy="1600200"/>
          </a:xfrm>
          <a:prstGeom prst="roundRect">
            <a:avLst/>
          </a:prstGeom>
          <a:solidFill>
            <a:srgbClr val="1D2F4C"/>
          </a:solidFill>
          <a:ln>
            <a:solidFill>
              <a:srgbClr val="354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37575" y="1527048"/>
            <a:ext cx="50292" cy="1380744"/>
          </a:xfrm>
          <a:prstGeom prst="rect">
            <a:avLst/>
          </a:prstGeom>
          <a:solidFill>
            <a:srgbClr val="7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02167" y="1527048"/>
            <a:ext cx="3227832" cy="32004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1400" b="1">
                <a:solidFill>
                  <a:srgbClr val="F8FAFD"/>
                </a:solidFill>
                <a:latin typeface="Aptos"/>
              </a:defRPr>
            </a:pPr>
            <a:r>
              <a:t>DELETE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2167" y="1901952"/>
            <a:ext cx="3227832" cy="105156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1200" b="0">
                <a:solidFill>
                  <a:srgbClr val="B9C7D8"/>
                </a:solidFill>
                <a:latin typeface="Aptos"/>
              </a:defRPr>
            </a:pPr>
            <a:r>
              <a:t>Exclusive access coordinates deletion with reads and writes.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429000"/>
            <a:ext cx="5120640" cy="32004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1800" b="1">
                <a:solidFill>
                  <a:srgbClr val="F8FAFD"/>
                </a:solidFill>
                <a:latin typeface="Aptos"/>
              </a:defRPr>
            </a:pPr>
            <a:r>
              <a:t>Reduce deadlock 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84048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F8FAFD"/>
                </a:solidFill>
                <a:latin typeface="Aptos"/>
              </a:defRPr>
            </a:pPr>
            <a:r>
              <a:t>•  Take at most one file lock per operation, if implemented this way.</a:t>
            </a:r>
          </a:p>
          <a:p>
            <a:pPr>
              <a:spcAft>
                <a:spcPts val="900"/>
              </a:spcAft>
              <a:defRPr sz="1300">
                <a:solidFill>
                  <a:srgbClr val="F8FAFD"/>
                </a:solidFill>
                <a:latin typeface="Aptos"/>
              </a:defRPr>
            </a:pPr>
            <a:r>
              <a:t>•  Do not hold the lock-registry mutex while waiting for a file lock.</a:t>
            </a:r>
          </a:p>
          <a:p>
            <a:pPr>
              <a:spcAft>
                <a:spcPts val="900"/>
              </a:spcAft>
              <a:defRPr sz="1300">
                <a:solidFill>
                  <a:srgbClr val="F8FAFD"/>
                </a:solidFill>
                <a:latin typeface="Aptos"/>
              </a:defRPr>
            </a:pPr>
            <a:r>
              <a:t>•  Use RAII lock wrappers so locks release on scope exit.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429000"/>
            <a:ext cx="5029200" cy="32004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1800" b="1">
                <a:solidFill>
                  <a:srgbClr val="F8FAFD"/>
                </a:solidFill>
                <a:latin typeface="Aptos"/>
              </a:defRPr>
            </a:pPr>
            <a:r>
              <a:t>Why not Peterson's Solution?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38404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F8FAFD"/>
                </a:solidFill>
                <a:latin typeface="Aptos"/>
              </a:defRPr>
            </a:pPr>
            <a:r>
              <a:t>•  Classic Peterson's algorithm is for two participants under specific assumptions.</a:t>
            </a:r>
          </a:p>
          <a:p>
            <a:pPr>
              <a:spcAft>
                <a:spcPts val="900"/>
              </a:spcAft>
              <a:defRPr sz="1300">
                <a:solidFill>
                  <a:srgbClr val="F8FAFD"/>
                </a:solidFill>
                <a:latin typeface="Aptos"/>
              </a:defRPr>
            </a:pPr>
            <a:r>
              <a:t>•  A server may have many client threads.</a:t>
            </a:r>
          </a:p>
          <a:p>
            <a:pPr>
              <a:spcAft>
                <a:spcPts val="900"/>
              </a:spcAft>
              <a:defRPr sz="1300">
                <a:solidFill>
                  <a:srgbClr val="F8FAFD"/>
                </a:solidFill>
                <a:latin typeface="Aptos"/>
              </a:defRPr>
            </a:pPr>
            <a:r>
              <a:t>•  std::mutex / std::shared_mutex is more practical for C++ server code.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897880"/>
            <a:ext cx="10515600" cy="22860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1100" b="1">
                <a:solidFill>
                  <a:srgbClr val="F5B059"/>
                </a:solidFill>
                <a:latin typeface="Aptos"/>
              </a:defRPr>
            </a:pPr>
            <a:r>
              <a:t>VERIFY SOURCE CODE: present the exact lock type and policy actually implemented.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56032"/>
            <a:ext cx="10698480" cy="438912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2500" b="1">
                <a:solidFill>
                  <a:srgbClr val="F8FAFD"/>
                </a:solidFill>
                <a:latin typeface="Aptos"/>
              </a:defRPr>
            </a:pPr>
            <a:r>
              <a:t>File consistency: temporary file + commit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698480" cy="27432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1100" b="0">
                <a:solidFill>
                  <a:srgbClr val="B9C7D8"/>
                </a:solidFill>
                <a:latin typeface="Aptos"/>
              </a:defRPr>
            </a:pPr>
            <a:r>
              <a:t>Keep the destination critical section short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97280"/>
            <a:ext cx="731520" cy="41148"/>
          </a:xfrm>
          <a:prstGeom prst="rect">
            <a:avLst/>
          </a:prstGeom>
          <a:solidFill>
            <a:srgbClr val="00B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509760" y="310896"/>
            <a:ext cx="2057400" cy="22860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r">
              <a:defRPr sz="900" b="1">
                <a:solidFill>
                  <a:srgbClr val="70D8E0"/>
                </a:solidFill>
                <a:latin typeface="Aptos"/>
              </a:defRPr>
            </a:pPr>
            <a:r>
              <a:t>CONSISTENCY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9144000" cy="18288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800" b="1">
                <a:solidFill>
                  <a:srgbClr val="B9C7D8"/>
                </a:solidFill>
                <a:latin typeface="Aptos"/>
              </a:defRPr>
            </a:pPr>
            <a:r>
              <a:t>OPERATING SYSTEMS • FINAL PROJECT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548640" cy="18288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r">
              <a:defRPr sz="900" b="1">
                <a:solidFill>
                  <a:srgbClr val="B9C7D8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F8FAFD"/>
                </a:solidFill>
                <a:latin typeface="Aptos"/>
              </a:defRPr>
            </a:pPr>
            <a:r>
              <a:t>•  Receive incoming bytes into a temporary file; do not expose a partial destination.</a:t>
            </a:r>
          </a:p>
          <a:p>
            <a:pPr>
              <a:spcAft>
                <a:spcPts val="900"/>
              </a:spcAft>
              <a:defRPr sz="1500">
                <a:solidFill>
                  <a:srgbClr val="F8FAFD"/>
                </a:solidFill>
                <a:latin typeface="Aptos"/>
              </a:defRPr>
            </a:pPr>
            <a:r>
              <a:t>•  After upload completes, acquire the destination's exclusive lock.</a:t>
            </a:r>
          </a:p>
          <a:p>
            <a:pPr>
              <a:spcAft>
                <a:spcPts val="900"/>
              </a:spcAft>
              <a:defRPr sz="1500">
                <a:solidFill>
                  <a:srgbClr val="F8FAFD"/>
                </a:solidFill>
                <a:latin typeface="Aptos"/>
              </a:defRPr>
            </a:pPr>
            <a:r>
              <a:t>•  Commit by renaming the temporary file into place, handling errors and filesystem semantics.</a:t>
            </a:r>
          </a:p>
          <a:p>
            <a:pPr>
              <a:spcAft>
                <a:spcPts val="900"/>
              </a:spcAft>
              <a:defRPr sz="1500">
                <a:solidFill>
                  <a:srgbClr val="F8FAFD"/>
                </a:solidFill>
                <a:latin typeface="Aptos"/>
              </a:defRPr>
            </a:pPr>
            <a:r>
              <a:t>•  Readers and deletion must follow a consistent locking policy with the writer.</a:t>
            </a:r>
          </a:p>
          <a:p>
            <a:pPr>
              <a:spcAft>
                <a:spcPts val="900"/>
              </a:spcAft>
              <a:defRPr sz="1500">
                <a:solidFill>
                  <a:srgbClr val="F8FAFD"/>
                </a:solidFill>
                <a:latin typeface="Aptos"/>
              </a:defRPr>
            </a:pPr>
            <a:r>
              <a:t>•  On disconnect or write failure, clean up the temporary file and report an error.</a:t>
            </a:r>
          </a:p>
          <a:p>
            <a:pPr>
              <a:spcAft>
                <a:spcPts val="900"/>
              </a:spcAft>
              <a:defRPr sz="1500">
                <a:solidFill>
                  <a:srgbClr val="F8FAFD"/>
                </a:solidFill>
                <a:latin typeface="Aptos"/>
              </a:defRPr>
            </a:pPr>
            <a:r>
              <a:t>•  Atomic rename does not replace synchronization; all relevant operations must coordinate.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56032"/>
            <a:ext cx="10698480" cy="438912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2500" b="1">
                <a:solidFill>
                  <a:srgbClr val="F8FAFD"/>
                </a:solidFill>
                <a:latin typeface="Aptos"/>
              </a:defRPr>
            </a:pPr>
            <a:r>
              <a:t>Race condition vs deadlock vs starvation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698480" cy="27432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1100" b="0">
                <a:solidFill>
                  <a:srgbClr val="B9C7D8"/>
                </a:solidFill>
                <a:latin typeface="Aptos"/>
              </a:defRPr>
            </a:pPr>
            <a:r>
              <a:t>Three different concurrency problems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97280"/>
            <a:ext cx="731520" cy="41148"/>
          </a:xfrm>
          <a:prstGeom prst="rect">
            <a:avLst/>
          </a:prstGeom>
          <a:solidFill>
            <a:srgbClr val="00B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509760" y="310896"/>
            <a:ext cx="2057400" cy="22860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r">
              <a:defRPr sz="900" b="1">
                <a:solidFill>
                  <a:srgbClr val="70D8E0"/>
                </a:solidFill>
                <a:latin typeface="Aptos"/>
              </a:defRPr>
            </a:pPr>
            <a:r>
              <a:t>VIVA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9144000" cy="18288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800" b="1">
                <a:solidFill>
                  <a:srgbClr val="B9C7D8"/>
                </a:solidFill>
                <a:latin typeface="Aptos"/>
              </a:defRPr>
            </a:pPr>
            <a:r>
              <a:t>OPERATING SYSTEMS • FINAL PROJECT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548640" cy="18288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r">
              <a:defRPr sz="900" b="1">
                <a:solidFill>
                  <a:srgbClr val="B9C7D8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3520440" cy="1828800"/>
          </a:xfrm>
          <a:prstGeom prst="roundRect">
            <a:avLst/>
          </a:prstGeom>
          <a:solidFill>
            <a:srgbClr val="1D2F4C"/>
          </a:solidFill>
          <a:ln>
            <a:solidFill>
              <a:srgbClr val="354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618488"/>
            <a:ext cx="50292" cy="1609344"/>
          </a:xfrm>
          <a:prstGeom prst="rect">
            <a:avLst/>
          </a:prstGeom>
          <a:solidFill>
            <a:srgbClr val="DC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1" y="1618488"/>
            <a:ext cx="3227832" cy="32004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1400" b="1">
                <a:solidFill>
                  <a:srgbClr val="F8FAFD"/>
                </a:solidFill>
                <a:latin typeface="Aptos"/>
              </a:defRPr>
            </a:pPr>
            <a:r>
              <a:t>RACE CONDITION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993391"/>
            <a:ext cx="3227832" cy="128016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1200" b="0">
                <a:solidFill>
                  <a:srgbClr val="B9C7D8"/>
                </a:solidFill>
                <a:latin typeface="Aptos"/>
              </a:defRPr>
            </a:pPr>
            <a:r>
              <a:t>The result depends on timing/interleaving of concurrent operations.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508760"/>
            <a:ext cx="3520440" cy="1828800"/>
          </a:xfrm>
          <a:prstGeom prst="roundRect">
            <a:avLst/>
          </a:prstGeom>
          <a:solidFill>
            <a:srgbClr val="1D2F4C"/>
          </a:solidFill>
          <a:ln>
            <a:solidFill>
              <a:srgbClr val="354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15968" y="1618488"/>
            <a:ext cx="50292" cy="1609344"/>
          </a:xfrm>
          <a:prstGeom prst="rect">
            <a:avLst/>
          </a:prstGeom>
          <a:solidFill>
            <a:srgbClr val="F5B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80559" y="1618488"/>
            <a:ext cx="3227832" cy="32004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1400" b="1">
                <a:solidFill>
                  <a:srgbClr val="F8FAFD"/>
                </a:solidFill>
                <a:latin typeface="Aptos"/>
              </a:defRPr>
            </a:pPr>
            <a:r>
              <a:t>DEADLOCK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59" y="1993391"/>
            <a:ext cx="3227832" cy="128016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1200" b="0">
                <a:solidFill>
                  <a:srgbClr val="B9C7D8"/>
                </a:solidFill>
                <a:latin typeface="Aptos"/>
              </a:defRPr>
            </a:pPr>
            <a:r>
              <a:t>Threads wait indefinitely for resources held by one another.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508760"/>
            <a:ext cx="3520440" cy="1828800"/>
          </a:xfrm>
          <a:prstGeom prst="roundRect">
            <a:avLst/>
          </a:prstGeom>
          <a:solidFill>
            <a:srgbClr val="1D2F4C"/>
          </a:solidFill>
          <a:ln>
            <a:solidFill>
              <a:srgbClr val="354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01000" y="1618488"/>
            <a:ext cx="50292" cy="1609344"/>
          </a:xfrm>
          <a:prstGeom prst="rect">
            <a:avLst/>
          </a:prstGeom>
          <a:solidFill>
            <a:srgbClr val="7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65592" y="1618488"/>
            <a:ext cx="3227832" cy="32004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1400" b="1">
                <a:solidFill>
                  <a:srgbClr val="F8FAFD"/>
                </a:solidFill>
                <a:latin typeface="Aptos"/>
              </a:defRPr>
            </a:pPr>
            <a:r>
              <a:t>STARVATION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5592" y="1993391"/>
            <a:ext cx="3227832" cy="128016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1200" b="0">
                <a:solidFill>
                  <a:srgbClr val="B9C7D8"/>
                </a:solidFill>
                <a:latin typeface="Aptos"/>
              </a:defRPr>
            </a:pPr>
            <a:r>
              <a:t>A thread waits excessively while others repeatedly get access.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79476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F8FAFD"/>
                </a:solidFill>
                <a:latin typeface="Aptos"/>
              </a:defRPr>
            </a:pPr>
            <a:r>
              <a:t>•  Race: simultaneous writers target the same filename without coordinated commit.</a:t>
            </a:r>
          </a:p>
          <a:p>
            <a:pPr>
              <a:spcAft>
                <a:spcPts val="900"/>
              </a:spcAft>
              <a:defRPr sz="1400">
                <a:solidFill>
                  <a:srgbClr val="F8FAFD"/>
                </a:solidFill>
                <a:latin typeface="Aptos"/>
              </a:defRPr>
            </a:pPr>
            <a:r>
              <a:t>•  Deadlock: Thread A holds lock 1 and waits for lock 2; Thread B holds lock 2 and waits for lock 1.</a:t>
            </a:r>
          </a:p>
          <a:p>
            <a:pPr>
              <a:spcAft>
                <a:spcPts val="900"/>
              </a:spcAft>
              <a:defRPr sz="1400">
                <a:solidFill>
                  <a:srgbClr val="F8FAFD"/>
                </a:solidFill>
                <a:latin typeface="Aptos"/>
              </a:defRPr>
            </a:pPr>
            <a:r>
              <a:t>•  Starvation: heavy contention repeatedly delays one reader or writer.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56032"/>
            <a:ext cx="10698480" cy="438912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2500" b="1">
                <a:solidFill>
                  <a:srgbClr val="F8FAFD"/>
                </a:solidFill>
                <a:latin typeface="Aptos"/>
              </a:defRPr>
            </a:pPr>
            <a:r>
              <a:t>Networking and application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698480" cy="27432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1100" b="0">
                <a:solidFill>
                  <a:srgbClr val="B9C7D8"/>
                </a:solidFill>
                <a:latin typeface="Aptos"/>
              </a:defRPr>
            </a:pPr>
            <a:r>
              <a:t>TCP carries bytes; the application protocol defines boundaries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97280"/>
            <a:ext cx="731520" cy="41148"/>
          </a:xfrm>
          <a:prstGeom prst="rect">
            <a:avLst/>
          </a:prstGeom>
          <a:solidFill>
            <a:srgbClr val="00B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509760" y="310896"/>
            <a:ext cx="2057400" cy="22860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r">
              <a:defRPr sz="900" b="1">
                <a:solidFill>
                  <a:srgbClr val="70D8E0"/>
                </a:solidFill>
                <a:latin typeface="Aptos"/>
              </a:defRPr>
            </a:pPr>
            <a:r>
              <a:t>NETWORKING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9144000" cy="18288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800" b="1">
                <a:solidFill>
                  <a:srgbClr val="B9C7D8"/>
                </a:solidFill>
                <a:latin typeface="Aptos"/>
              </a:defRPr>
            </a:pPr>
            <a:r>
              <a:t>OPERATING SYSTEMS • FINAL PROJECT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548640" cy="18288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r">
              <a:defRPr sz="900" b="1">
                <a:solidFill>
                  <a:srgbClr val="B9C7D8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F8FAFD"/>
                </a:solidFill>
                <a:latin typeface="Aptos"/>
              </a:defRPr>
            </a:pPr>
            <a:r>
              <a:t>•  Server lifecycle: socket() → bind() → listen() → accept().</a:t>
            </a:r>
          </a:p>
          <a:p>
            <a:pPr>
              <a:spcAft>
                <a:spcPts val="900"/>
              </a:spcAft>
              <a:defRPr sz="1500">
                <a:solidFill>
                  <a:srgbClr val="F8FAFD"/>
                </a:solidFill>
                <a:latin typeface="Aptos"/>
              </a:defRPr>
            </a:pPr>
            <a:r>
              <a:t>•  Client lifecycle: socket() → connect() → send()/recv() → close().</a:t>
            </a:r>
          </a:p>
          <a:p>
            <a:pPr>
              <a:spcAft>
                <a:spcPts val="900"/>
              </a:spcAft>
              <a:defRPr sz="1500">
                <a:solidFill>
                  <a:srgbClr val="F8FAFD"/>
                </a:solidFill>
                <a:latin typeface="Aptos"/>
              </a:defRPr>
            </a:pPr>
            <a:r>
              <a:t>•  TCP is a byte stream: one recv() does not necessarily equal one complete message.</a:t>
            </a:r>
          </a:p>
          <a:p>
            <a:pPr>
              <a:spcAft>
                <a:spcPts val="900"/>
              </a:spcAft>
              <a:defRPr sz="1500">
                <a:solidFill>
                  <a:srgbClr val="F8FAFD"/>
                </a:solidFill>
                <a:latin typeface="Aptos"/>
              </a:defRPr>
            </a:pPr>
            <a:r>
              <a:t>•  Length-prefixed framing lets the receiver know how many bytes to collect.</a:t>
            </a:r>
          </a:p>
          <a:p>
            <a:pPr>
              <a:spcAft>
                <a:spcPts val="900"/>
              </a:spcAft>
              <a:defRPr sz="1500">
                <a:solidFill>
                  <a:srgbClr val="F8FAFD"/>
                </a:solidFill>
                <a:latin typeface="Aptos"/>
              </a:defRPr>
            </a:pPr>
            <a:r>
              <a:t>•  Commands transfer file data; status responses report success or errors.</a:t>
            </a:r>
          </a:p>
          <a:p>
            <a:pPr>
              <a:spcAft>
                <a:spcPts val="900"/>
              </a:spcAft>
              <a:defRPr sz="1500">
                <a:solidFill>
                  <a:srgbClr val="F8FAFD"/>
                </a:solidFill>
                <a:latin typeface="Aptos"/>
              </a:defRPr>
            </a:pPr>
            <a:r>
              <a:t>•  Server-side filename and size validation is required even if the browser validates input.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56032"/>
            <a:ext cx="10698480" cy="438912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2500" b="1">
                <a:solidFill>
                  <a:srgbClr val="F8FAFD"/>
                </a:solidFill>
                <a:latin typeface="Aptos"/>
              </a:defRPr>
            </a:pPr>
            <a:r>
              <a:t>Validation, errors and robustness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698480" cy="27432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1100" b="0">
                <a:solidFill>
                  <a:srgbClr val="B9C7D8"/>
                </a:solidFill>
                <a:latin typeface="Aptos"/>
              </a:defRPr>
            </a:pPr>
            <a:r>
              <a:t>Treat every request as untrusted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97280"/>
            <a:ext cx="731520" cy="41148"/>
          </a:xfrm>
          <a:prstGeom prst="rect">
            <a:avLst/>
          </a:prstGeom>
          <a:solidFill>
            <a:srgbClr val="00B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509760" y="310896"/>
            <a:ext cx="2057400" cy="22860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r">
              <a:defRPr sz="900" b="1">
                <a:solidFill>
                  <a:srgbClr val="70D8E0"/>
                </a:solidFill>
                <a:latin typeface="Aptos"/>
              </a:defRPr>
            </a:pPr>
            <a:r>
              <a:t>ROBUSTNESS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9144000" cy="18288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800" b="1">
                <a:solidFill>
                  <a:srgbClr val="B9C7D8"/>
                </a:solidFill>
                <a:latin typeface="Aptos"/>
              </a:defRPr>
            </a:pPr>
            <a:r>
              <a:t>OPERATING SYSTEMS • FINAL PROJECT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548640" cy="18288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r">
              <a:defRPr sz="900" b="1">
                <a:solidFill>
                  <a:srgbClr val="B9C7D8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F8FAFD"/>
                </a:solidFill>
                <a:latin typeface="Aptos"/>
              </a:defRPr>
            </a:pPr>
            <a:r>
              <a:t>•  Validate filenames on the server; reject path traversal such as ../secret.</a:t>
            </a:r>
          </a:p>
          <a:p>
            <a:pPr>
              <a:spcAft>
                <a:spcPts val="900"/>
              </a:spcAft>
              <a:defRPr sz="1500">
                <a:solidFill>
                  <a:srgbClr val="F8FAFD"/>
                </a:solidFill>
                <a:latin typeface="Aptos"/>
              </a:defRPr>
            </a:pPr>
            <a:r>
              <a:t>•  Validate command names and file sizes before accepting payloads.</a:t>
            </a:r>
          </a:p>
          <a:p>
            <a:pPr>
              <a:spcAft>
                <a:spcPts val="900"/>
              </a:spcAft>
              <a:defRPr sz="1500">
                <a:solidFill>
                  <a:srgbClr val="F8FAFD"/>
                </a:solidFill>
                <a:latin typeface="Aptos"/>
              </a:defRPr>
            </a:pPr>
            <a:r>
              <a:t>•  Handle partial sends/receives, client disconnects and interrupted operations.</a:t>
            </a:r>
          </a:p>
          <a:p>
            <a:pPr>
              <a:spcAft>
                <a:spcPts val="900"/>
              </a:spcAft>
              <a:defRPr sz="1500">
                <a:solidFill>
                  <a:srgbClr val="F8FAFD"/>
                </a:solidFill>
                <a:latin typeface="Aptos"/>
              </a:defRPr>
            </a:pPr>
            <a:r>
              <a:t>•  Close sockets and file descriptors on error paths; remove incomplete temporary files.</a:t>
            </a:r>
          </a:p>
          <a:p>
            <a:pPr>
              <a:spcAft>
                <a:spcPts val="900"/>
              </a:spcAft>
              <a:defRPr sz="1500">
                <a:solidFill>
                  <a:srgbClr val="F8FAFD"/>
                </a:solidFill>
                <a:latin typeface="Aptos"/>
              </a:defRPr>
            </a:pPr>
            <a:r>
              <a:t>•  Use clear status messages and logs to diagnose failures.</a:t>
            </a:r>
          </a:p>
          <a:p>
            <a:pPr>
              <a:spcAft>
                <a:spcPts val="900"/>
              </a:spcAft>
              <a:defRPr sz="1500">
                <a:solidFill>
                  <a:srgbClr val="F8FAFD"/>
                </a:solidFill>
                <a:latin typeface="Aptos"/>
              </a:defRPr>
            </a:pPr>
            <a:r>
              <a:t>•  Do not claim authentication, encryption or permissions unless implemented.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56032"/>
            <a:ext cx="10698480" cy="438912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2500" b="1">
                <a:solidFill>
                  <a:srgbClr val="F8FAFD"/>
                </a:solidFill>
                <a:latin typeface="Aptos"/>
              </a:defRPr>
            </a:pPr>
            <a:r>
              <a:t>Testing plan: correctness before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698480" cy="27432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1100" b="0">
                <a:solidFill>
                  <a:srgbClr val="B9C7D8"/>
                </a:solidFill>
                <a:latin typeface="Aptos"/>
              </a:defRPr>
            </a:pPr>
            <a:r>
              <a:t>Show actual output from your own run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97280"/>
            <a:ext cx="731520" cy="41148"/>
          </a:xfrm>
          <a:prstGeom prst="rect">
            <a:avLst/>
          </a:prstGeom>
          <a:solidFill>
            <a:srgbClr val="00B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509760" y="310896"/>
            <a:ext cx="2057400" cy="22860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r">
              <a:defRPr sz="900" b="1">
                <a:solidFill>
                  <a:srgbClr val="70D8E0"/>
                </a:solidFill>
                <a:latin typeface="Aptos"/>
              </a:defRPr>
            </a:pPr>
            <a:r>
              <a:t>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9144000" cy="18288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800" b="1">
                <a:solidFill>
                  <a:srgbClr val="B9C7D8"/>
                </a:solidFill>
                <a:latin typeface="Aptos"/>
              </a:defRPr>
            </a:pPr>
            <a:r>
              <a:t>OPERATING SYSTEMS • FINAL PROJECT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548640" cy="18288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r">
              <a:defRPr sz="900" b="1">
                <a:solidFill>
                  <a:srgbClr val="B9C7D8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5303520" cy="1115568"/>
          </a:xfrm>
          <a:prstGeom prst="roundRect">
            <a:avLst/>
          </a:prstGeom>
          <a:solidFill>
            <a:srgbClr val="1D2F4C"/>
          </a:solidFill>
          <a:ln>
            <a:solidFill>
              <a:srgbClr val="354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481328"/>
            <a:ext cx="50292" cy="896112"/>
          </a:xfrm>
          <a:prstGeom prst="rect">
            <a:avLst/>
          </a:prstGeom>
          <a:solidFill>
            <a:srgbClr val="00B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0392" y="1481328"/>
            <a:ext cx="5010912" cy="32004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1400" b="1">
                <a:solidFill>
                  <a:srgbClr val="F8FAFD"/>
                </a:solidFill>
                <a:latin typeface="Aptos"/>
              </a:defRPr>
            </a:pPr>
            <a:r>
              <a:t>FUNCTIONAL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1856232"/>
            <a:ext cx="5010912" cy="566928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1200" b="0">
                <a:solidFill>
                  <a:srgbClr val="B9C7D8"/>
                </a:solidFill>
                <a:latin typeface="Aptos"/>
              </a:defRPr>
            </a:pPr>
            <a:r>
              <a:t>Upload / download / list / delete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371600"/>
            <a:ext cx="5303520" cy="1115568"/>
          </a:xfrm>
          <a:prstGeom prst="roundRect">
            <a:avLst/>
          </a:prstGeom>
          <a:solidFill>
            <a:srgbClr val="1D2F4C"/>
          </a:solidFill>
          <a:ln>
            <a:solidFill>
              <a:srgbClr val="354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09360" y="1481328"/>
            <a:ext cx="50292" cy="896112"/>
          </a:xfrm>
          <a:prstGeom prst="rect">
            <a:avLst/>
          </a:prstGeom>
          <a:solidFill>
            <a:srgbClr val="7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73952" y="1481328"/>
            <a:ext cx="5010912" cy="32004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1400" b="1">
                <a:solidFill>
                  <a:srgbClr val="F8FAFD"/>
                </a:solidFill>
                <a:latin typeface="Aptos"/>
              </a:defRPr>
            </a:pPr>
            <a:r>
              <a:t>CONCURRENCY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1856232"/>
            <a:ext cx="5010912" cy="566928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1200" b="0">
                <a:solidFill>
                  <a:srgbClr val="B9C7D8"/>
                </a:solidFill>
                <a:latin typeface="Aptos"/>
              </a:defRPr>
            </a:pPr>
            <a:r>
              <a:t>8 clients upload different files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724912"/>
            <a:ext cx="5303520" cy="1115568"/>
          </a:xfrm>
          <a:prstGeom prst="roundRect">
            <a:avLst/>
          </a:prstGeom>
          <a:solidFill>
            <a:srgbClr val="1D2F4C"/>
          </a:solidFill>
          <a:ln>
            <a:solidFill>
              <a:srgbClr val="354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85800" y="2834640"/>
            <a:ext cx="50292" cy="896112"/>
          </a:xfrm>
          <a:prstGeom prst="rect">
            <a:avLst/>
          </a:prstGeom>
          <a:solidFill>
            <a:srgbClr val="F5B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0392" y="2834640"/>
            <a:ext cx="5010912" cy="32004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1400" b="1">
                <a:solidFill>
                  <a:srgbClr val="F8FAFD"/>
                </a:solidFill>
                <a:latin typeface="Aptos"/>
              </a:defRPr>
            </a:pPr>
            <a:r>
              <a:t>CONFLICT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3209544"/>
            <a:ext cx="5010912" cy="566928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1200" b="0">
                <a:solidFill>
                  <a:srgbClr val="B9C7D8"/>
                </a:solidFill>
                <a:latin typeface="Aptos"/>
              </a:defRPr>
            </a:pPr>
            <a:r>
              <a:t>Writers target one file; verify complete final content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2724912"/>
            <a:ext cx="5303520" cy="1115568"/>
          </a:xfrm>
          <a:prstGeom prst="roundRect">
            <a:avLst/>
          </a:prstGeom>
          <a:solidFill>
            <a:srgbClr val="1D2F4C"/>
          </a:solidFill>
          <a:ln>
            <a:solidFill>
              <a:srgbClr val="354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309360" y="2834640"/>
            <a:ext cx="50292" cy="896112"/>
          </a:xfrm>
          <a:prstGeom prst="rect">
            <a:avLst/>
          </a:prstGeom>
          <a:solidFill>
            <a:srgbClr val="DC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73952" y="2834640"/>
            <a:ext cx="5010912" cy="32004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1400" b="1">
                <a:solidFill>
                  <a:srgbClr val="F8FAFD"/>
                </a:solidFill>
                <a:latin typeface="Aptos"/>
              </a:defRPr>
            </a:pPr>
            <a:r>
              <a:t>LOCKING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3952" y="3209544"/>
            <a:ext cx="5010912" cy="566928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1200" b="0">
                <a:solidFill>
                  <a:srgbClr val="B9C7D8"/>
                </a:solidFill>
                <a:latin typeface="Aptos"/>
              </a:defRPr>
            </a:pPr>
            <a:r>
              <a:t>Readers vs writer; download vs delete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078224"/>
            <a:ext cx="5303520" cy="1115568"/>
          </a:xfrm>
          <a:prstGeom prst="roundRect">
            <a:avLst/>
          </a:prstGeom>
          <a:solidFill>
            <a:srgbClr val="1D2F4C"/>
          </a:solidFill>
          <a:ln>
            <a:solidFill>
              <a:srgbClr val="354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85800" y="4187952"/>
            <a:ext cx="50292" cy="896112"/>
          </a:xfrm>
          <a:prstGeom prst="rect">
            <a:avLst/>
          </a:prstGeom>
          <a:solidFill>
            <a:srgbClr val="3CA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50392" y="4187952"/>
            <a:ext cx="5010912" cy="32004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1400" b="1">
                <a:solidFill>
                  <a:srgbClr val="F8FAFD"/>
                </a:solidFill>
                <a:latin typeface="Aptos"/>
              </a:defRPr>
            </a:pPr>
            <a:r>
              <a:t>PROTOCOL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" y="4562856"/>
            <a:ext cx="5010912" cy="566928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1200" b="0">
                <a:solidFill>
                  <a:srgbClr val="B9C7D8"/>
                </a:solidFill>
                <a:latin typeface="Aptos"/>
              </a:defRPr>
            </a:pPr>
            <a:r>
              <a:t>Framing, partial messages and binary files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4078224"/>
            <a:ext cx="5303520" cy="1115568"/>
          </a:xfrm>
          <a:prstGeom prst="roundRect">
            <a:avLst/>
          </a:prstGeom>
          <a:solidFill>
            <a:srgbClr val="1D2F4C"/>
          </a:solidFill>
          <a:ln>
            <a:solidFill>
              <a:srgbClr val="354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309360" y="4187952"/>
            <a:ext cx="50292" cy="896112"/>
          </a:xfrm>
          <a:prstGeom prst="rect">
            <a:avLst/>
          </a:prstGeom>
          <a:solidFill>
            <a:srgbClr val="00B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73952" y="4187952"/>
            <a:ext cx="5010912" cy="32004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1400" b="1">
                <a:solidFill>
                  <a:srgbClr val="F8FAFD"/>
                </a:solidFill>
                <a:latin typeface="Aptos"/>
              </a:defRPr>
            </a:pPr>
            <a:r>
              <a:t>ROBUSTNESS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73952" y="4562856"/>
            <a:ext cx="5010912" cy="566928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1200" b="0">
                <a:solidFill>
                  <a:srgbClr val="B9C7D8"/>
                </a:solidFill>
                <a:latin typeface="Aptos"/>
              </a:defRPr>
            </a:pPr>
            <a:r>
              <a:t>Invalid filename, disconnect, restart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623560"/>
            <a:ext cx="10515600" cy="41148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1200" b="1">
                <a:solidFill>
                  <a:srgbClr val="F5B059"/>
                </a:solidFill>
                <a:latin typeface="Aptos"/>
              </a:defRPr>
            </a:pPr>
            <a:r>
              <a:t>Report only tests actually run. Do not invent a pass count or sanitizer result.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56032"/>
            <a:ext cx="10698480" cy="438912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2500" b="1">
                <a:solidFill>
                  <a:srgbClr val="F8FAFD"/>
                </a:solidFill>
                <a:latin typeface="Aptos"/>
              </a:defRPr>
            </a:pPr>
            <a:r>
              <a:t>Current implementation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698480" cy="27432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1100" b="0">
                <a:solidFill>
                  <a:srgbClr val="B9C7D8"/>
                </a:solidFill>
                <a:latin typeface="Aptos"/>
              </a:defRPr>
            </a:pPr>
            <a:r>
              <a:t>Use live browser and terminal during the demonstration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97280"/>
            <a:ext cx="731520" cy="41148"/>
          </a:xfrm>
          <a:prstGeom prst="rect">
            <a:avLst/>
          </a:prstGeom>
          <a:solidFill>
            <a:srgbClr val="00B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509760" y="310896"/>
            <a:ext cx="2057400" cy="22860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r">
              <a:defRPr sz="900" b="1">
                <a:solidFill>
                  <a:srgbClr val="70D8E0"/>
                </a:solidFill>
                <a:latin typeface="Aptos"/>
              </a:defRPr>
            </a:pPr>
            <a:r>
              <a:t>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9144000" cy="18288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800" b="1">
                <a:solidFill>
                  <a:srgbClr val="B9C7D8"/>
                </a:solidFill>
                <a:latin typeface="Aptos"/>
              </a:defRPr>
            </a:pPr>
            <a:r>
              <a:t>OPERATING SYSTEMS • FINAL PROJECT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548640" cy="18288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r">
              <a:defRPr sz="900" b="1">
                <a:solidFill>
                  <a:srgbClr val="B9C7D8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5303520" cy="1325880"/>
          </a:xfrm>
          <a:prstGeom prst="roundRect">
            <a:avLst/>
          </a:prstGeom>
          <a:solidFill>
            <a:srgbClr val="1D2F4C"/>
          </a:solidFill>
          <a:ln>
            <a:solidFill>
              <a:srgbClr val="354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527048"/>
            <a:ext cx="50292" cy="1106424"/>
          </a:xfrm>
          <a:prstGeom prst="rect">
            <a:avLst/>
          </a:prstGeom>
          <a:solidFill>
            <a:srgbClr val="00B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0392" y="1527048"/>
            <a:ext cx="5010912" cy="32004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1400" b="1">
                <a:solidFill>
                  <a:srgbClr val="F8FAFD"/>
                </a:solidFill>
                <a:latin typeface="Aptos"/>
              </a:defRPr>
            </a:pPr>
            <a:r>
              <a:t>BROWSER: localhost:8000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1901952"/>
            <a:ext cx="5010912" cy="77724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1200" b="0">
                <a:solidFill>
                  <a:srgbClr val="B9C7D8"/>
                </a:solidFill>
                <a:latin typeface="Aptos"/>
              </a:defRPr>
            </a:pPr>
            <a:r>
              <a:t>Visible upload panel, stored-file list, download/delete actions and concurrency controls.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17320"/>
            <a:ext cx="5303520" cy="1325880"/>
          </a:xfrm>
          <a:prstGeom prst="roundRect">
            <a:avLst/>
          </a:prstGeom>
          <a:solidFill>
            <a:srgbClr val="1D2F4C"/>
          </a:solidFill>
          <a:ln>
            <a:solidFill>
              <a:srgbClr val="354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1527048"/>
            <a:ext cx="50292" cy="1106424"/>
          </a:xfrm>
          <a:prstGeom prst="rect">
            <a:avLst/>
          </a:prstGeom>
          <a:solidFill>
            <a:srgbClr val="7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82512" y="1527048"/>
            <a:ext cx="5010912" cy="32004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1400" b="1">
                <a:solidFill>
                  <a:srgbClr val="F8FAFD"/>
                </a:solidFill>
                <a:latin typeface="Aptos"/>
              </a:defRPr>
            </a:pPr>
            <a:r>
              <a:t>SERVER: port 8080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1901952"/>
            <a:ext cx="5010912" cy="77724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1200" b="0">
                <a:solidFill>
                  <a:srgbClr val="B9C7D8"/>
                </a:solidFill>
                <a:latin typeface="Aptos"/>
              </a:defRPr>
            </a:pPr>
            <a:r>
              <a:t>Terminal logs show client connections, LIST and DOWNLOAD requests and disconnects.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971800"/>
            <a:ext cx="5303520" cy="1417320"/>
          </a:xfrm>
          <a:prstGeom prst="roundRect">
            <a:avLst/>
          </a:prstGeom>
          <a:solidFill>
            <a:srgbClr val="1D2F4C"/>
          </a:solidFill>
          <a:ln>
            <a:solidFill>
              <a:srgbClr val="354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85800" y="3081528"/>
            <a:ext cx="50292" cy="1197864"/>
          </a:xfrm>
          <a:prstGeom prst="rect">
            <a:avLst/>
          </a:prstGeom>
          <a:solidFill>
            <a:srgbClr val="F5B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0392" y="3081528"/>
            <a:ext cx="5010912" cy="32004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1400" b="1">
                <a:solidFill>
                  <a:srgbClr val="F8FAFD"/>
                </a:solidFill>
                <a:latin typeface="Aptos"/>
              </a:defRPr>
            </a:pPr>
            <a:r>
              <a:t>CONCURRENT UPLOADS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3456432"/>
            <a:ext cx="5010912" cy="86868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1200" b="0">
                <a:solidFill>
                  <a:srgbClr val="B9C7D8"/>
                </a:solidFill>
                <a:latin typeface="Aptos"/>
              </a:defRPr>
            </a:pPr>
            <a:r>
              <a:t>Screenshot shows eight completed transfer rows for conflict.txt. This alone does not prove final data integrity.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971800"/>
            <a:ext cx="5303520" cy="1417320"/>
          </a:xfrm>
          <a:prstGeom prst="roundRect">
            <a:avLst/>
          </a:prstGeom>
          <a:solidFill>
            <a:srgbClr val="1D2F4C"/>
          </a:solidFill>
          <a:ln>
            <a:solidFill>
              <a:srgbClr val="354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17920" y="3081528"/>
            <a:ext cx="50292" cy="1197864"/>
          </a:xfrm>
          <a:prstGeom prst="rect">
            <a:avLst/>
          </a:prstGeom>
          <a:solidFill>
            <a:srgbClr val="3CA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82512" y="3081528"/>
            <a:ext cx="5010912" cy="32004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1400" b="1">
                <a:solidFill>
                  <a:srgbClr val="F8FAFD"/>
                </a:solidFill>
                <a:latin typeface="Aptos"/>
              </a:defRPr>
            </a:pPr>
            <a:r>
              <a:t>FINAL VERIFICATION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3456432"/>
            <a:ext cx="5010912" cy="86868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1200" b="0">
                <a:solidFill>
                  <a:srgbClr val="B9C7D8"/>
                </a:solidFill>
                <a:latin typeface="Aptos"/>
              </a:defRPr>
            </a:pPr>
            <a:r>
              <a:t>Run conflict test and automated suite; capture actual PASS/FAIL output.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983480"/>
            <a:ext cx="10332720" cy="54864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1600" b="1">
                <a:solidFill>
                  <a:srgbClr val="F8FAFD"/>
                </a:solidFill>
                <a:latin typeface="Aptos"/>
              </a:defRPr>
            </a:pPr>
            <a:r>
              <a:t>Demo order: normal upload/download → 8-client upload → same-file conflict → server log → tests.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56032"/>
            <a:ext cx="10698480" cy="438912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2500" b="1">
                <a:solidFill>
                  <a:srgbClr val="F8FAFD"/>
                </a:solidFill>
                <a:latin typeface="Aptos"/>
              </a:defRPr>
            </a:pPr>
            <a:r>
              <a:t>Implementation status and honest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698480" cy="27432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1100" b="0">
                <a:solidFill>
                  <a:srgbClr val="B9C7D8"/>
                </a:solidFill>
                <a:latin typeface="Aptos"/>
              </a:defRPr>
            </a:pPr>
            <a:r>
              <a:t>Separate visible evidence from features still needing verification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97280"/>
            <a:ext cx="731520" cy="41148"/>
          </a:xfrm>
          <a:prstGeom prst="rect">
            <a:avLst/>
          </a:prstGeom>
          <a:solidFill>
            <a:srgbClr val="00B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509760" y="310896"/>
            <a:ext cx="2057400" cy="22860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r">
              <a:defRPr sz="900" b="1">
                <a:solidFill>
                  <a:srgbClr val="70D8E0"/>
                </a:solidFill>
                <a:latin typeface="Aptos"/>
              </a:defRPr>
            </a:pPr>
            <a:r>
              <a:t>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9144000" cy="18288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800" b="1">
                <a:solidFill>
                  <a:srgbClr val="B9C7D8"/>
                </a:solidFill>
                <a:latin typeface="Aptos"/>
              </a:defRPr>
            </a:pPr>
            <a:r>
              <a:t>OPERATING SYSTEMS • FINAL PROJECT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548640" cy="18288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r">
              <a:defRPr sz="900" b="1">
                <a:solidFill>
                  <a:srgbClr val="B9C7D8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3520440" cy="1828800"/>
          </a:xfrm>
          <a:prstGeom prst="roundRect">
            <a:avLst/>
          </a:prstGeom>
          <a:solidFill>
            <a:srgbClr val="1D2F4C"/>
          </a:solidFill>
          <a:ln>
            <a:solidFill>
              <a:srgbClr val="354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527048"/>
            <a:ext cx="50292" cy="1609344"/>
          </a:xfrm>
          <a:prstGeom prst="rect">
            <a:avLst/>
          </a:prstGeom>
          <a:solidFill>
            <a:srgbClr val="00B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1" y="1527048"/>
            <a:ext cx="3227832" cy="32004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1400" b="1">
                <a:solidFill>
                  <a:srgbClr val="F8FAFD"/>
                </a:solidFill>
                <a:latin typeface="Aptos"/>
              </a:defRPr>
            </a:pPr>
            <a:r>
              <a:t>VISIBLE IN SCREENSHOTS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901952"/>
            <a:ext cx="3227832" cy="128016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1200" b="0">
                <a:solidFill>
                  <a:srgbClr val="B9C7D8"/>
                </a:solidFill>
                <a:latin typeface="Aptos"/>
              </a:defRPr>
            </a:pPr>
            <a:r>
              <a:t>Browser UI, file list, server logs and completed transfer entries.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417320"/>
            <a:ext cx="3520440" cy="1828800"/>
          </a:xfrm>
          <a:prstGeom prst="roundRect">
            <a:avLst/>
          </a:prstGeom>
          <a:solidFill>
            <a:srgbClr val="1D2F4C"/>
          </a:solidFill>
          <a:ln>
            <a:solidFill>
              <a:srgbClr val="354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15968" y="1527048"/>
            <a:ext cx="50292" cy="1609344"/>
          </a:xfrm>
          <a:prstGeom prst="rect">
            <a:avLst/>
          </a:prstGeom>
          <a:solidFill>
            <a:srgbClr val="F5B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80559" y="1527048"/>
            <a:ext cx="3227832" cy="32004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1400" b="1">
                <a:solidFill>
                  <a:srgbClr val="F8FAFD"/>
                </a:solidFill>
                <a:latin typeface="Aptos"/>
              </a:defRPr>
            </a:pPr>
            <a:r>
              <a:t>VERIFY TONIGHT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59" y="1901952"/>
            <a:ext cx="3227832" cy="128016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1200" b="0">
                <a:solidFill>
                  <a:srgbClr val="B9C7D8"/>
                </a:solidFill>
                <a:latin typeface="Aptos"/>
              </a:defRPr>
            </a:pPr>
            <a:r>
              <a:t>Conflict-test PASS; automated test output; actual lock implementation; restart persistence.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417320"/>
            <a:ext cx="3520440" cy="1828800"/>
          </a:xfrm>
          <a:prstGeom prst="roundRect">
            <a:avLst/>
          </a:prstGeom>
          <a:solidFill>
            <a:srgbClr val="1D2F4C"/>
          </a:solidFill>
          <a:ln>
            <a:solidFill>
              <a:srgbClr val="354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01000" y="1527048"/>
            <a:ext cx="50292" cy="1609344"/>
          </a:xfrm>
          <a:prstGeom prst="rect">
            <a:avLst/>
          </a:prstGeom>
          <a:solidFill>
            <a:srgbClr val="7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65592" y="1527048"/>
            <a:ext cx="3227832" cy="32004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1400" b="1">
                <a:solidFill>
                  <a:srgbClr val="F8FAFD"/>
                </a:solidFill>
                <a:latin typeface="Aptos"/>
              </a:defRPr>
            </a:pPr>
            <a:r>
              <a:t>FUTURE 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5592" y="1901952"/>
            <a:ext cx="3227832" cy="128016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1200" b="0">
                <a:solidFill>
                  <a:srgbClr val="B9C7D8"/>
                </a:solidFill>
                <a:latin typeface="Aptos"/>
              </a:defRPr>
            </a:pPr>
            <a:r>
              <a:t>Multi-node storage, replication/failover, authentication, encryption and load balancing.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794760"/>
            <a:ext cx="10424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F8FAFD"/>
                </a:solidFill>
                <a:latin typeface="Aptos"/>
              </a:defRPr>
            </a:pPr>
            <a:r>
              <a:t>•  Current design uses multiple clients and one storage server; do not claim replicated storage.</a:t>
            </a:r>
          </a:p>
          <a:p>
            <a:pPr>
              <a:spcAft>
                <a:spcPts val="900"/>
              </a:spcAft>
              <a:defRPr sz="1400">
                <a:solidFill>
                  <a:srgbClr val="F8FAFD"/>
                </a:solidFill>
                <a:latin typeface="Aptos"/>
              </a:defRPr>
            </a:pPr>
            <a:r>
              <a:t>•  Security capabilities are limited to what is implemented.</a:t>
            </a:r>
          </a:p>
          <a:p>
            <a:pPr>
              <a:spcAft>
                <a:spcPts val="900"/>
              </a:spcAft>
              <a:defRPr sz="1400">
                <a:solidFill>
                  <a:srgbClr val="F8FAFD"/>
                </a:solidFill>
                <a:latin typeface="Aptos"/>
              </a:defRPr>
            </a:pPr>
            <a:r>
              <a:t>•  Performance depends on client limits, disk I/O, network and lock contention.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640080"/>
            <a:ext cx="10698480" cy="36576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1200" b="1">
                <a:solidFill>
                  <a:srgbClr val="70D8E0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07040" cy="73152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3000" b="1">
                <a:solidFill>
                  <a:srgbClr val="F8FAFD"/>
                </a:solidFill>
                <a:latin typeface="Aptos"/>
              </a:defRPr>
            </a:pPr>
            <a:r>
              <a:t>Safe concurrency is the core contribution.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331720"/>
            <a:ext cx="9966960" cy="91440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1900" b="0">
                <a:solidFill>
                  <a:srgbClr val="B9C7D8"/>
                </a:solidFill>
                <a:latin typeface="Aptos"/>
              </a:defRPr>
            </a:pPr>
            <a:r>
              <a:t>The project combines TCP client-server communication with multithreading, file operations and synchronization to support concurrent client access.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3886200"/>
            <a:ext cx="3337560" cy="1234440"/>
          </a:xfrm>
          <a:prstGeom prst="roundRect">
            <a:avLst/>
          </a:prstGeom>
          <a:solidFill>
            <a:srgbClr val="1D2F4C"/>
          </a:solidFill>
          <a:ln>
            <a:solidFill>
              <a:srgbClr val="354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3995928"/>
            <a:ext cx="50292" cy="1014984"/>
          </a:xfrm>
          <a:prstGeom prst="rect">
            <a:avLst/>
          </a:prstGeom>
          <a:solidFill>
            <a:srgbClr val="00B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" y="3995928"/>
            <a:ext cx="3044952" cy="32004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1400" b="1">
                <a:solidFill>
                  <a:srgbClr val="F8FAFD"/>
                </a:solidFill>
                <a:latin typeface="Aptos"/>
              </a:defRPr>
            </a:pPr>
            <a:r>
              <a:t>NETWORKING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4370832"/>
            <a:ext cx="3044952" cy="68580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1200" b="0">
                <a:solidFill>
                  <a:srgbClr val="B9C7D8"/>
                </a:solidFill>
                <a:latin typeface="Aptos"/>
              </a:defRPr>
            </a:pPr>
            <a:r>
              <a:t>Sockets, TCP and protocol framing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3886200"/>
            <a:ext cx="3337560" cy="1234440"/>
          </a:xfrm>
          <a:prstGeom prst="roundRect">
            <a:avLst/>
          </a:prstGeom>
          <a:solidFill>
            <a:srgbClr val="1D2F4C"/>
          </a:solidFill>
          <a:ln>
            <a:solidFill>
              <a:srgbClr val="354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34840" y="3995928"/>
            <a:ext cx="50292" cy="1014984"/>
          </a:xfrm>
          <a:prstGeom prst="rect">
            <a:avLst/>
          </a:prstGeom>
          <a:solidFill>
            <a:srgbClr val="7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9431" y="3995928"/>
            <a:ext cx="3044952" cy="32004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1400" b="1">
                <a:solidFill>
                  <a:srgbClr val="F8FAFD"/>
                </a:solidFill>
                <a:latin typeface="Aptos"/>
              </a:defRPr>
            </a:pPr>
            <a:r>
              <a:t>OPERATING SYSTEMS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1" y="4370832"/>
            <a:ext cx="3044952" cy="68580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1200" b="0">
                <a:solidFill>
                  <a:srgbClr val="B9C7D8"/>
                </a:solidFill>
                <a:latin typeface="Aptos"/>
              </a:defRPr>
            </a:pPr>
            <a:r>
              <a:t>Threads, locks and file I/O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3886200"/>
            <a:ext cx="3337560" cy="1234440"/>
          </a:xfrm>
          <a:prstGeom prst="roundRect">
            <a:avLst/>
          </a:prstGeom>
          <a:solidFill>
            <a:srgbClr val="1D2F4C"/>
          </a:solidFill>
          <a:ln>
            <a:solidFill>
              <a:srgbClr val="354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92440" y="3995928"/>
            <a:ext cx="50292" cy="1014984"/>
          </a:xfrm>
          <a:prstGeom prst="rect">
            <a:avLst/>
          </a:prstGeom>
          <a:solidFill>
            <a:srgbClr val="F5B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57031" y="3995928"/>
            <a:ext cx="3044952" cy="32004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1400" b="1">
                <a:solidFill>
                  <a:srgbClr val="F8FAFD"/>
                </a:solidFill>
                <a:latin typeface="Aptos"/>
              </a:defRPr>
            </a:pPr>
            <a:r>
              <a:t>VALIDATION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031" y="4370832"/>
            <a:ext cx="3044952" cy="68580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1200" b="0">
                <a:solidFill>
                  <a:srgbClr val="B9C7D8"/>
                </a:solidFill>
                <a:latin typeface="Aptos"/>
              </a:defRPr>
            </a:pPr>
            <a:r>
              <a:t>Concurrency tests and error handling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715000"/>
            <a:ext cx="10332720" cy="36576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1700" b="1">
                <a:solidFill>
                  <a:srgbClr val="F8FAFD"/>
                </a:solidFill>
                <a:latin typeface="Aptos"/>
              </a:defRPr>
            </a:pPr>
            <a:r>
              <a:t>Thank you • Questions and viva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6510528"/>
            <a:ext cx="9144000" cy="18288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800" b="1">
                <a:solidFill>
                  <a:srgbClr val="B9C7D8"/>
                </a:solidFill>
                <a:latin typeface="Aptos"/>
              </a:defRPr>
            </a:pPr>
            <a:r>
              <a:t>OPERATING SYSTEMS • FINAL PROJECT 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92240"/>
            <a:ext cx="548640" cy="18288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r">
              <a:defRPr sz="900" b="1">
                <a:solidFill>
                  <a:srgbClr val="B9C7D8"/>
                </a:solidFill>
                <a:latin typeface="Aptos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56032"/>
            <a:ext cx="10698480" cy="438912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2500" b="1">
                <a:solidFill>
                  <a:srgbClr val="F8FAFD"/>
                </a:solidFill>
                <a:latin typeface="Aptos"/>
              </a:defRPr>
            </a:pPr>
            <a:r>
              <a:t>Appendix: likely viva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698480" cy="27432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1100" b="0">
                <a:solidFill>
                  <a:srgbClr val="B9C7D8"/>
                </a:solidFill>
                <a:latin typeface="Aptos"/>
              </a:defRPr>
            </a:pPr>
            <a:r>
              <a:t>Rehearse these before the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97280"/>
            <a:ext cx="731520" cy="41148"/>
          </a:xfrm>
          <a:prstGeom prst="rect">
            <a:avLst/>
          </a:prstGeom>
          <a:solidFill>
            <a:srgbClr val="00B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509760" y="310896"/>
            <a:ext cx="2057400" cy="22860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r">
              <a:defRPr sz="900" b="1">
                <a:solidFill>
                  <a:srgbClr val="70D8E0"/>
                </a:solidFill>
                <a:latin typeface="Aptos"/>
              </a:defRPr>
            </a:pPr>
            <a:r>
              <a:t>APPENDIX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9144000" cy="18288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>
              <a:defRPr sz="800" b="1">
                <a:solidFill>
                  <a:srgbClr val="B9C7D8"/>
                </a:solidFill>
                <a:latin typeface="Aptos"/>
              </a:defRPr>
            </a:pPr>
            <a:r>
              <a:t>OPERATING SYSTEMS • FINAL PROJECT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548640" cy="182880"/>
          </a:xfrm>
          <a:prstGeom prst="rect">
            <a:avLst/>
          </a:prstGeom>
          <a:noFill/>
        </p:spPr>
        <p:txBody>
          <a:bodyPr wrap="square" lIns="73152" tIns="36576" rIns="73152">
            <a:spAutoFit/>
          </a:bodyPr>
          <a:lstStyle/>
          <a:p>
            <a:pPr algn="r">
              <a:defRPr sz="900" b="1">
                <a:solidFill>
                  <a:srgbClr val="B9C7D8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F8FAFD"/>
                </a:solidFill>
                <a:latin typeface="Aptos"/>
              </a:defRPr>
            </a:pPr>
            <a:r>
              <a:t>•  Why TCP rather than UDP?</a:t>
            </a:r>
          </a:p>
          <a:p>
            <a:pPr>
              <a:spcAft>
                <a:spcPts val="900"/>
              </a:spcAft>
              <a:defRPr sz="1500">
                <a:solidFill>
                  <a:srgbClr val="F8FAFD"/>
                </a:solidFill>
                <a:latin typeface="Aptos"/>
              </a:defRPr>
            </a:pPr>
            <a:r>
              <a:t>•  What is a race condition and how does the conflict test detect it?</a:t>
            </a:r>
          </a:p>
          <a:p>
            <a:pPr>
              <a:spcAft>
                <a:spcPts val="900"/>
              </a:spcAft>
              <a:defRPr sz="1500">
                <a:solidFill>
                  <a:srgbClr val="F8FAFD"/>
                </a:solidFill>
                <a:latin typeface="Aptos"/>
              </a:defRPr>
            </a:pPr>
            <a:r>
              <a:t>•  What is the difference between std::mutex and std::shared_mutex?</a:t>
            </a:r>
          </a:p>
          <a:p>
            <a:pPr>
              <a:spcAft>
                <a:spcPts val="900"/>
              </a:spcAft>
              <a:defRPr sz="1500">
                <a:solidFill>
                  <a:srgbClr val="F8FAFD"/>
                </a:solidFill>
                <a:latin typeface="Aptos"/>
              </a:defRPr>
            </a:pPr>
            <a:r>
              <a:t>•  Why is Peterson's Solution not your production mechanism?</a:t>
            </a:r>
          </a:p>
          <a:p>
            <a:pPr>
              <a:spcAft>
                <a:spcPts val="900"/>
              </a:spcAft>
              <a:defRPr sz="1500">
                <a:solidFill>
                  <a:srgbClr val="F8FAFD"/>
                </a:solidFill>
                <a:latin typeface="Aptos"/>
              </a:defRPr>
            </a:pPr>
            <a:r>
              <a:t>•  How can deadlock happen, and how does your locking policy reduce risk?</a:t>
            </a:r>
          </a:p>
          <a:p>
            <a:pPr>
              <a:spcAft>
                <a:spcPts val="900"/>
              </a:spcAft>
              <a:defRPr sz="1500">
                <a:solidFill>
                  <a:srgbClr val="F8FAFD"/>
                </a:solidFill>
                <a:latin typeface="Aptos"/>
              </a:defRPr>
            </a:pPr>
            <a:r>
              <a:t>•  Why write to a temporary file before renaming?</a:t>
            </a:r>
          </a:p>
          <a:p>
            <a:pPr>
              <a:spcAft>
                <a:spcPts val="900"/>
              </a:spcAft>
              <a:defRPr sz="1500">
                <a:solidFill>
                  <a:srgbClr val="F8FAFD"/>
                </a:solidFill>
                <a:latin typeface="Aptos"/>
              </a:defRPr>
            </a:pPr>
            <a:r>
              <a:t>•  Does one recv() receive one complete message?</a:t>
            </a:r>
          </a:p>
          <a:p>
            <a:pPr>
              <a:spcAft>
                <a:spcPts val="900"/>
              </a:spcAft>
              <a:defRPr sz="1500">
                <a:solidFill>
                  <a:srgbClr val="F8FAFD"/>
                </a:solidFill>
                <a:latin typeface="Aptos"/>
              </a:defRPr>
            </a:pPr>
            <a:r>
              <a:t>•  What happens if a client disconnects halfway through an upload?</a:t>
            </a:r>
          </a:p>
          <a:p>
            <a:pPr>
              <a:spcAft>
                <a:spcPts val="900"/>
              </a:spcAft>
              <a:defRPr sz="1500">
                <a:solidFill>
                  <a:srgbClr val="F8FAFD"/>
                </a:solidFill>
                <a:latin typeface="Aptos"/>
              </a:defRPr>
            </a:pPr>
            <a:r>
              <a:t>•  What is the limitation of one storage server?</a:t>
            </a:r>
          </a:p>
          <a:p>
            <a:pPr>
              <a:spcAft>
                <a:spcPts val="900"/>
              </a:spcAft>
              <a:defRPr sz="1500">
                <a:solidFill>
                  <a:srgbClr val="F8FAFD"/>
                </a:solidFill>
                <a:latin typeface="Aptos"/>
              </a:defRPr>
            </a:pPr>
            <a:r>
              <a:t>•  Which test results have you personally verified?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1267</TotalTime>
  <Words>1788</Words>
  <Application>Microsoft Office PowerPoint</Application>
  <PresentationFormat>Widescreen</PresentationFormat>
  <Paragraphs>228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kamal nayak</cp:lastModifiedBy>
  <cp:revision>2</cp:revision>
  <dcterms:created xsi:type="dcterms:W3CDTF">2013-01-27T09:14:16Z</dcterms:created>
  <dcterms:modified xsi:type="dcterms:W3CDTF">2026-10-23T13:39:09Z</dcterms:modified>
  <cp:category/>
</cp:coreProperties>
</file>